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 validated LLM-powered multi-agent AI framework that automates gene regulatory network analysis through intelligent workflow orchestration, transforming multi-hour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derived from 500K+ single-cell RNA-seq profiles from CellxGene Data Portal (processed via ARACNe algorithm), perturbation analysis ranks therapeutic targets using network centrality metrics (PageRank, out-degree centrality), analyzing all upstream regulators comprehensively and successfully identifying experimentally validated regulators. Framework validation on colorectal cancer biomarkers showed 100% concordance with published literature across five genes and complete perturbation analysis of 99 regulators. Perturbation analysis successfully identified experimentally validated TP53 regulators (WWTR1, YAP1, CHD4 from Hippo pathway) alongside novel testable hypotheses (RBPMS, PRRX2), demonstrating reliable hypothesis generation for experimental prioritization. Natural language interface via Claude Desktop makes sophisticated gene analysis accessible without programming.</a:t>
            </a:r>
            <a:br/>
            <a:br/>
            <a:r>
              <a:t>KEY INNOVATION: LLM-Powered Agents with Scientific Rationales • Local Inference (Ollama) • Hours → Seconds (15-62 sec with LLM, &lt;1 sec rule-based) • 4 Parallel Domain Agents • Complete Perturbation Analysis (All Regulators) • Conversational Interface • Graceful Fallback Architecture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Hours → 0.68 sec</a:t>
            </a:r>
          </a:p>
          <a:p>
            <a:pPr lvl="1">
              <a:spcAft>
                <a:spcPts val="400"/>
              </a:spcAft>
              <a:defRPr sz="2000" b="1">
                <a:solidFill>
                  <a:srgbClr val="000000"/>
                </a:solidFill>
              </a:defRPr>
            </a:pPr>
            <a:r>
              <a:t>Single gene (LLM-powered): Hours → 15 sec</a:t>
            </a:r>
          </a:p>
          <a:p>
            <a:pPr lvl="1">
              <a:spcAft>
                <a:spcPts val="400"/>
              </a:spcAft>
              <a:defRPr sz="2000" b="1">
                <a:solidFill>
                  <a:srgbClr val="000000"/>
                </a:solidFill>
              </a:defRPr>
            </a:pPr>
            <a:r>
              <a:t>5 genes (LLM-powered): Hours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hours of work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assessment with rationale, tumor suppressor likelihood with explanation, therapeutic target scoring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scoring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Terminal Target</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91440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Rectangle 45"/>
          <p:cNvSpPr/>
          <p:nvPr/>
        </p:nvSpPr>
        <p:spPr>
          <a:xfrm>
            <a:off x="32461200" y="146304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7" name="TextBox 46"/>
          <p:cNvSpPr txBox="1"/>
          <p:nvPr/>
        </p:nvSpPr>
        <p:spPr>
          <a:xfrm>
            <a:off x="32461200" y="15544800"/>
            <a:ext cx="10972800" cy="5486400"/>
          </a:xfrm>
          <a:prstGeom prst="rect">
            <a:avLst/>
          </a:prstGeom>
          <a:noFill/>
        </p:spPr>
        <p:txBody>
          <a:bodyPr wrap="square"/>
          <a:lstStyle/>
          <a:p/>
          <a:p>
            <a:pPr>
              <a:spcAft>
                <a:spcPts val="1200"/>
              </a:spcAft>
              <a:defRPr sz="22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400"/>
              </a:spcAft>
              <a:defRPr sz="2000" b="1">
                <a:solidFill>
                  <a:srgbClr val="003366"/>
                </a:solidFill>
              </a:defRPr>
            </a:pPr>
            <a:r>
              <a:t>• Intelligent routing optimizes analysis paths based on gene characteristics</a:t>
            </a:r>
          </a:p>
          <a:p>
            <a:pPr>
              <a:spcAft>
                <a:spcPts val="400"/>
              </a:spcAft>
              <a:defRPr sz="2000" b="1">
                <a:solidFill>
                  <a:srgbClr val="003366"/>
                </a:solidFill>
              </a:defRPr>
            </a:pPr>
            <a:r>
              <a:t>• Parallel execution enables second-scale analysis (0.6-62 sec depending on mode)</a:t>
            </a:r>
          </a:p>
          <a:p>
            <a:pPr>
              <a:spcAft>
                <a:spcPts val="400"/>
              </a:spcAft>
              <a:defRPr sz="2000" b="1">
                <a:solidFill>
                  <a:srgbClr val="003366"/>
                </a:solidFill>
              </a:defRPr>
            </a:pPr>
            <a:r>
              <a:t>• Domain-specific agents provide specialized cancer, drug, clinical, and systems perspectives</a:t>
            </a:r>
          </a:p>
          <a:p>
            <a:pPr>
              <a:spcAft>
                <a:spcPts val="1200"/>
              </a:spcAft>
              <a:defRPr sz="2000" b="1">
                <a:solidFill>
                  <a:srgbClr val="003366"/>
                </a:solidFill>
              </a:defRPr>
            </a:pPr>
            <a:r>
              <a:t>• Cell-type specificity supports translational research questions</a:t>
            </a:r>
          </a:p>
          <a:p>
            <a:pPr>
              <a:defRPr sz="1800" i="1">
                <a:solidFill>
                  <a:srgbClr val="646464"/>
                </a:solidFill>
              </a:defRPr>
            </a:pPr>
            <a:r>
              <a:t>Data Availability: All regulatory network data from publicly accessible sources</a:t>
            </a:r>
          </a:p>
        </p:txBody>
      </p:sp>
      <p:sp>
        <p:nvSpPr>
          <p:cNvPr id="48" name="Rectangle 47"/>
          <p:cNvSpPr/>
          <p:nvPr/>
        </p:nvSpPr>
        <p:spPr>
          <a:xfrm>
            <a:off x="32461200" y="2103120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49" name="TextBox 48"/>
          <p:cNvSpPr txBox="1"/>
          <p:nvPr/>
        </p:nvSpPr>
        <p:spPr>
          <a:xfrm>
            <a:off x="32461200" y="21945600"/>
            <a:ext cx="10972800" cy="36576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0" name="Rectangle 49"/>
          <p:cNvSpPr/>
          <p:nvPr/>
        </p:nvSpPr>
        <p:spPr>
          <a:xfrm>
            <a:off x="32461200" y="256032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1" name="TextBox 50"/>
          <p:cNvSpPr txBox="1"/>
          <p:nvPr/>
        </p:nvSpPr>
        <p:spPr>
          <a:xfrm>
            <a:off x="32461200" y="2651760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2" name="Rectangle 51"/>
          <p:cNvSpPr/>
          <p:nvPr/>
        </p:nvSpPr>
        <p:spPr>
          <a:xfrm>
            <a:off x="39776400" y="26517600"/>
            <a:ext cx="3200400" cy="32004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3" name="TextBox 52"/>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