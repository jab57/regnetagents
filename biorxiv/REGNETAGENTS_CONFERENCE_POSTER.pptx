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Multi-Agent Framework for Gene Regulatory Network Analysis</a:t>
            </a:r>
          </a:p>
          <a:p>
            <a:pPr algn="ctr">
              <a:defRPr sz="4000">
                <a:solidFill>
                  <a:srgbClr val="C8E6FF"/>
                </a:solidFill>
              </a:defRPr>
            </a:pPr>
            <a:r>
              <a:t>A LangGraph-Powered AI System for Comprehensive Gene Analysis</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multi-hour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predicting experimentally validated regulators. Validated on colorectal cancer biomarkers with complete perturbation analysis of 99 regulators, all predictions aligned with published literature, demonstrating reliable hypothesis generation for research prioritization. Natural language interface via Claude Desktop makes sophisticated gene analysis accessible without programming.</a:t>
            </a:r>
            <a:br/>
            <a:br/>
            <a:r>
              <a:t>KEY INNOVATION: LLM-Powered Agents with Scientific Rationales • Local Inference (Ollama) • Hours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Hours → 0.68 sec</a:t>
            </a:r>
          </a:p>
          <a:p>
            <a:pPr lvl="1">
              <a:spcAft>
                <a:spcPts val="400"/>
              </a:spcAft>
              <a:defRPr sz="2000" b="1">
                <a:solidFill>
                  <a:srgbClr val="000000"/>
                </a:solidFill>
              </a:defRPr>
            </a:pPr>
            <a:r>
              <a:t>Single gene (LLM-powered): Hours → 15 sec</a:t>
            </a:r>
          </a:p>
          <a:p>
            <a:pPr lvl="1">
              <a:spcAft>
                <a:spcPts val="400"/>
              </a:spcAft>
              <a:defRPr sz="2000" b="1">
                <a:solidFill>
                  <a:srgbClr val="000000"/>
                </a:solidFill>
              </a:defRPr>
            </a:pPr>
            <a:r>
              <a:t>5 genes (LLM-powered): Hours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hours of work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assessment with rationale, tumor suppressor likelihood with explanation, therapeutic target scoring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scoring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Terminal Target</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91440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Rectangle 45"/>
          <p:cNvSpPr/>
          <p:nvPr/>
        </p:nvSpPr>
        <p:spPr>
          <a:xfrm>
            <a:off x="32461200" y="146304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7" name="TextBox 46"/>
          <p:cNvSpPr txBox="1"/>
          <p:nvPr/>
        </p:nvSpPr>
        <p:spPr>
          <a:xfrm>
            <a:off x="32461200" y="15544800"/>
            <a:ext cx="10972800" cy="5486400"/>
          </a:xfrm>
          <a:prstGeom prst="rect">
            <a:avLst/>
          </a:prstGeom>
          <a:noFill/>
        </p:spPr>
        <p:txBody>
          <a:bodyPr wrap="square"/>
          <a:lstStyle/>
          <a:p/>
          <a:p>
            <a:pPr>
              <a:spcAft>
                <a:spcPts val="1200"/>
              </a:spcAft>
              <a:defRPr sz="22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400"/>
              </a:spcAft>
              <a:defRPr sz="2000" b="1">
                <a:solidFill>
                  <a:srgbClr val="003366"/>
                </a:solidFill>
              </a:defRPr>
            </a:pPr>
            <a:r>
              <a:t>• Intelligent routing optimizes analysis paths based on gene characteristics</a:t>
            </a:r>
          </a:p>
          <a:p>
            <a:pPr>
              <a:spcAft>
                <a:spcPts val="400"/>
              </a:spcAft>
              <a:defRPr sz="2000" b="1">
                <a:solidFill>
                  <a:srgbClr val="003366"/>
                </a:solidFill>
              </a:defRPr>
            </a:pPr>
            <a:r>
              <a:t>• Parallel execution enables second-scale analysis (0.6-62 sec depending on mode)</a:t>
            </a:r>
          </a:p>
          <a:p>
            <a:pPr>
              <a:spcAft>
                <a:spcPts val="400"/>
              </a:spcAft>
              <a:defRPr sz="2000" b="1">
                <a:solidFill>
                  <a:srgbClr val="003366"/>
                </a:solidFill>
              </a:defRPr>
            </a:pPr>
            <a:r>
              <a:t>• Domain-specific agents provide specialized cancer, drug, clinical, and systems perspectives</a:t>
            </a:r>
          </a:p>
          <a:p>
            <a:pPr>
              <a:spcAft>
                <a:spcPts val="1200"/>
              </a:spcAft>
              <a:defRPr sz="2000" b="1">
                <a:solidFill>
                  <a:srgbClr val="003366"/>
                </a:solidFill>
              </a:defRPr>
            </a:pPr>
            <a:r>
              <a:t>• Cell-type specificity supports translational research questions</a:t>
            </a:r>
          </a:p>
          <a:p>
            <a:pPr>
              <a:defRPr sz="1800" i="1">
                <a:solidFill>
                  <a:srgbClr val="646464"/>
                </a:solidFill>
              </a:defRPr>
            </a:pPr>
            <a:r>
              <a:t>Data Availability: All regulatory network data from publicly accessible sources</a:t>
            </a:r>
          </a:p>
        </p:txBody>
      </p:sp>
      <p:sp>
        <p:nvSpPr>
          <p:cNvPr id="48" name="Rectangle 47"/>
          <p:cNvSpPr/>
          <p:nvPr/>
        </p:nvSpPr>
        <p:spPr>
          <a:xfrm>
            <a:off x="32461200" y="2103120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49" name="TextBox 48"/>
          <p:cNvSpPr txBox="1"/>
          <p:nvPr/>
        </p:nvSpPr>
        <p:spPr>
          <a:xfrm>
            <a:off x="32461200" y="21945600"/>
            <a:ext cx="10972800" cy="36576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0" name="Rectangle 49"/>
          <p:cNvSpPr/>
          <p:nvPr/>
        </p:nvSpPr>
        <p:spPr>
          <a:xfrm>
            <a:off x="32461200" y="256032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1" name="TextBox 50"/>
          <p:cNvSpPr txBox="1"/>
          <p:nvPr/>
        </p:nvSpPr>
        <p:spPr>
          <a:xfrm>
            <a:off x="32461200" y="2651760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2" name="Rectangle 51"/>
          <p:cNvSpPr/>
          <p:nvPr/>
        </p:nvSpPr>
        <p:spPr>
          <a:xfrm>
            <a:off x="39776400" y="26517600"/>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3" name="TextBox 52"/>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