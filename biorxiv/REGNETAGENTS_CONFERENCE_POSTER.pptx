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Validated Multi-Agent Framework for Gene Regulatory Network Analysis</a:t>
            </a:r>
          </a:p>
          <a:p>
            <a:pPr algn="ctr">
              <a:defRPr sz="4000">
                <a:solidFill>
                  <a:srgbClr val="C8E6FF"/>
                </a:solidFill>
              </a:defRPr>
            </a:pPr>
            <a:r>
              <a:t>A LangGraph-Powered AI System for Comprehensive Gene Analysis with 100% Literature Concordance</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an LLM-powered multi-agent AI framework that automates gene regulatory network analysis through intelligent workflow orchestration, transforming labor-intensive manual processes into second-scale automated analysis. The system deploys four specialized domain agents (cancer biology, drug discovery, clinical relevance, systems biology) using local language model inference to generate scientific insights with rationales, with graceful fallback to rule-based heuristics for reliability. Built on pre-computed regulatory networks from 500K+ single-cell RNA-seq profiles, the framework integrates network modeling, automated perturbation analysis using network centrality metrics (PageRank, degree centrality), pathway enrichment, and multi-domain interpretation into a conversational interface via Claude Desktop. Framework validation on colorectal cancer biomarkers demonstrated 100% concordance with published literature across five genes. Perturbation analysis correctly ranked experimentally validated TP53 regulators (WWTR1, YAP1, CHD4) among top candidates; additional high-ranking regulators (RBPMS, PRRX2, THRA, IKZF2) represent novel hypotheses for experimental validation. Complete analysis of 99 regulators across 5 genes completed in 15-62 seconds, representing orders of magnitude speedup over traditional manual approaches. Natural language interface makes sophisticated gene analysis accessible without programming expertise.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Perturbation Analysis: Simulate regulator inhibition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Manual → 0.68 sec</a:t>
            </a:r>
          </a:p>
          <a:p>
            <a:pPr lvl="1">
              <a:spcAft>
                <a:spcPts val="400"/>
              </a:spcAft>
              <a:defRPr sz="2000" b="1">
                <a:solidFill>
                  <a:srgbClr val="000000"/>
                </a:solidFill>
              </a:defRPr>
            </a:pPr>
            <a:r>
              <a:t>Single gene (LLM-powered): Manual → 15 sec</a:t>
            </a:r>
          </a:p>
          <a:p>
            <a:pPr lvl="1">
              <a:spcAft>
                <a:spcPts val="400"/>
              </a:spcAft>
              <a:defRPr sz="2000" b="1">
                <a:solidFill>
                  <a:srgbClr val="000000"/>
                </a:solidFill>
              </a:defRPr>
            </a:pPr>
            <a:r>
              <a:t>5 genes (LLM-powered): Manual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labor-intensive effort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simulates inhibiting each upstream regulator to identify therapeutic targets using network centrality metrics (PageRank, out-degree centrality) → Gene position in regulatory hierarchy, regulatory strength, cell-type specificity; perturbation analysis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classification with rationale, tumor suppressor likelihood with explanation, therapeutic target classification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assessment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100% Literature-Validated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Hub Regulator</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Heavily Regulated</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Heavily Regulated</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Validated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Validated: YAP1, CHD4 (Hippo pathway) confirmed in literature</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validated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82296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TextBox 45"/>
          <p:cNvSpPr txBox="1"/>
          <p:nvPr/>
        </p:nvSpPr>
        <p:spPr>
          <a:xfrm>
            <a:off x="32461200" y="13075920"/>
            <a:ext cx="10972800" cy="411480"/>
          </a:xfrm>
          <a:prstGeom prst="rect">
            <a:avLst/>
          </a:prstGeom>
          <a:noFill/>
        </p:spPr>
        <p:txBody>
          <a:bodyPr wrap="none">
            <a:spAutoFit/>
          </a:bodyPr>
          <a:lstStyle/>
          <a:p/>
          <a:p>
            <a:pPr algn="ctr">
              <a:defRPr sz="3000" b="1">
                <a:solidFill>
                  <a:srgbClr val="FF8800"/>
                </a:solidFill>
              </a:defRPr>
            </a:pPr>
            <a:r>
              <a:t>Figure 4: Framework Performance (orders of magnitude speedup)</a:t>
            </a:r>
          </a:p>
        </p:txBody>
      </p:sp>
      <p:pic>
        <p:nvPicPr>
          <p:cNvPr id="47" name="Picture 46" descr="figure4_framework_value.png"/>
          <p:cNvPicPr>
            <a:picLocks noChangeAspect="1"/>
          </p:cNvPicPr>
          <p:nvPr/>
        </p:nvPicPr>
        <p:blipFill>
          <a:blip r:embed="rId2"/>
          <a:stretch>
            <a:fillRect/>
          </a:stretch>
        </p:blipFill>
        <p:spPr>
          <a:xfrm>
            <a:off x="32644080" y="13350240"/>
            <a:ext cx="10607040" cy="7619030"/>
          </a:xfrm>
          <a:prstGeom prst="rect">
            <a:avLst/>
          </a:prstGeom>
        </p:spPr>
      </p:pic>
      <p:sp>
        <p:nvSpPr>
          <p:cNvPr id="48" name="Rectangle 47"/>
          <p:cNvSpPr/>
          <p:nvPr/>
        </p:nvSpPr>
        <p:spPr>
          <a:xfrm>
            <a:off x="32461200" y="211064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9" name="TextBox 48"/>
          <p:cNvSpPr txBox="1"/>
          <p:nvPr/>
        </p:nvSpPr>
        <p:spPr>
          <a:xfrm>
            <a:off x="32461200" y="22020830"/>
            <a:ext cx="10972800" cy="2926080"/>
          </a:xfrm>
          <a:prstGeom prst="rect">
            <a:avLst/>
          </a:prstGeom>
          <a:noFill/>
        </p:spPr>
        <p:txBody>
          <a:bodyPr wrap="square"/>
          <a:lstStyle/>
          <a:p/>
          <a:p>
            <a:pPr>
              <a:spcAft>
                <a:spcPts val="800"/>
              </a:spcAft>
              <a:defRPr sz="20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200"/>
              </a:spcAft>
              <a:defRPr sz="1800" b="1">
                <a:solidFill>
                  <a:srgbClr val="003366"/>
                </a:solidFill>
              </a:defRPr>
            </a:pPr>
            <a:r>
              <a:t>• Intelligent routing optimizes analysis paths based on gene characteristics</a:t>
            </a:r>
          </a:p>
          <a:p>
            <a:pPr>
              <a:spcAft>
                <a:spcPts val="200"/>
              </a:spcAft>
              <a:defRPr sz="1800" b="1">
                <a:solidFill>
                  <a:srgbClr val="003366"/>
                </a:solidFill>
              </a:defRPr>
            </a:pPr>
            <a:r>
              <a:t>• Parallel execution enables second-scale analysis (0.6-62 sec depending on mode)</a:t>
            </a:r>
          </a:p>
          <a:p>
            <a:pPr>
              <a:spcAft>
                <a:spcPts val="200"/>
              </a:spcAft>
              <a:defRPr sz="1800" b="1">
                <a:solidFill>
                  <a:srgbClr val="003366"/>
                </a:solidFill>
              </a:defRPr>
            </a:pPr>
            <a:r>
              <a:t>• Domain-specific agents provide specialized cancer, drug, clinical, and systems perspectives</a:t>
            </a:r>
          </a:p>
          <a:p>
            <a:pPr>
              <a:spcAft>
                <a:spcPts val="800"/>
              </a:spcAft>
              <a:defRPr sz="1800" b="1">
                <a:solidFill>
                  <a:srgbClr val="003366"/>
                </a:solidFill>
              </a:defRPr>
            </a:pPr>
            <a:r>
              <a:t>• Cell-type specificity supports translational research questions</a:t>
            </a:r>
          </a:p>
        </p:txBody>
      </p:sp>
      <p:sp>
        <p:nvSpPr>
          <p:cNvPr id="50" name="Rectangle 49"/>
          <p:cNvSpPr/>
          <p:nvPr/>
        </p:nvSpPr>
        <p:spPr>
          <a:xfrm>
            <a:off x="32461200" y="2567843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51" name="TextBox 50"/>
          <p:cNvSpPr txBox="1"/>
          <p:nvPr/>
        </p:nvSpPr>
        <p:spPr>
          <a:xfrm>
            <a:off x="32461200" y="26592830"/>
            <a:ext cx="10972800" cy="27432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2" name="Rectangle 51"/>
          <p:cNvSpPr/>
          <p:nvPr/>
        </p:nvSpPr>
        <p:spPr>
          <a:xfrm>
            <a:off x="32461200" y="293360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3" name="TextBox 52"/>
          <p:cNvSpPr txBox="1"/>
          <p:nvPr/>
        </p:nvSpPr>
        <p:spPr>
          <a:xfrm>
            <a:off x="32461200" y="3025043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4" name="Rectangle 53"/>
          <p:cNvSpPr/>
          <p:nvPr/>
        </p:nvSpPr>
        <p:spPr>
          <a:xfrm>
            <a:off x="39319200" y="30250430"/>
            <a:ext cx="2514600" cy="25146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5" name="TextBox 54"/>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