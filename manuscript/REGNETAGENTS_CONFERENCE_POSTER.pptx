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43891200" cy="329184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457200"/>
            <a:ext cx="42976800" cy="2926080"/>
          </a:xfrm>
          <a:prstGeom prst="rect">
            <a:avLst/>
          </a:prstGeom>
          <a:solidFill>
            <a:srgbClr val="003366"/>
          </a:solidFill>
          <a:ln>
            <a:solidFill>
              <a:srgbClr val="003366"/>
            </a:solidFill>
          </a:ln>
        </p:spPr>
        <p:style>
          <a:lnRef idx="1">
            <a:schemeClr val="accent1"/>
          </a:lnRef>
          <a:fillRef idx="3">
            <a:schemeClr val="accent1"/>
          </a:fillRef>
          <a:effectRef idx="2">
            <a:schemeClr val="accent1"/>
          </a:effectRef>
          <a:fontRef idx="minor">
            <a:schemeClr val="lt1"/>
          </a:fontRef>
        </p:style>
        <p:txBody>
          <a:bodyPr rtlCol="0" anchor="ctr" wrap="square" lIns="0" rIns="0"/>
          <a:lstStyle/>
          <a:p>
            <a:pPr algn="ctr"/>
          </a:p>
          <a:p>
            <a:pPr algn="ctr">
              <a:defRPr sz="7200" b="1">
                <a:solidFill>
                  <a:srgbClr val="FFFFFF"/>
                </a:solidFill>
              </a:defRPr>
            </a:pPr>
            <a:r>
              <a:t>RegNetAgents: Multi-Agent Framework for Gene Regulatory Network Analysis</a:t>
            </a:r>
          </a:p>
          <a:p>
            <a:pPr algn="ctr">
              <a:defRPr sz="4000">
                <a:solidFill>
                  <a:srgbClr val="C8E6FF"/>
                </a:solidFill>
              </a:defRPr>
            </a:pPr>
            <a:r>
              <a:t>A LangGraph-Powered AI System for Comprehensive Gene Analysis Validated on Colorectal Cancer Biomarkers</a:t>
            </a:r>
          </a:p>
        </p:txBody>
      </p:sp>
      <p:sp>
        <p:nvSpPr>
          <p:cNvPr id="3" name="TextBox 2"/>
          <p:cNvSpPr txBox="1"/>
          <p:nvPr/>
        </p:nvSpPr>
        <p:spPr>
          <a:xfrm>
            <a:off x="457200" y="3474720"/>
            <a:ext cx="42976800" cy="731520"/>
          </a:xfrm>
          <a:prstGeom prst="rect">
            <a:avLst/>
          </a:prstGeom>
          <a:noFill/>
        </p:spPr>
        <p:txBody>
          <a:bodyPr wrap="none" lIns="0" rIns="0">
            <a:spAutoFit/>
          </a:bodyPr>
          <a:lstStyle/>
          <a:p/>
          <a:p>
            <a:pPr algn="ctr">
              <a:defRPr sz="3600" b="1">
                <a:solidFill>
                  <a:srgbClr val="FFFFFF"/>
                </a:solidFill>
              </a:defRPr>
            </a:pPr>
            <a:r>
              <a:t>Jose A. Bird, PhD  •  Bird AI Solutions</a:t>
            </a:r>
          </a:p>
        </p:txBody>
      </p:sp>
      <p:sp>
        <p:nvSpPr>
          <p:cNvPr id="4" name="Rectangle 3"/>
          <p:cNvSpPr/>
          <p:nvPr/>
        </p:nvSpPr>
        <p:spPr>
          <a:xfrm>
            <a:off x="457200" y="4572000"/>
            <a:ext cx="9144000" cy="731520"/>
          </a:xfrm>
          <a:prstGeom prst="rect">
            <a:avLst/>
          </a:prstGeom>
          <a:solidFill>
            <a:srgbClr val="0066CC"/>
          </a:solidFill>
          <a:ln>
            <a:solidFill>
              <a:srgbClr val="0066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a:p>
            <a:pPr algn="ctr">
              <a:defRPr sz="3600" b="1">
                <a:solidFill>
                  <a:srgbClr val="FFFFFF"/>
                </a:solidFill>
              </a:defRPr>
            </a:pPr>
            <a:r>
              <a:t>ABSTRACT</a:t>
            </a:r>
          </a:p>
        </p:txBody>
      </p:sp>
      <p:sp>
        <p:nvSpPr>
          <p:cNvPr id="5" name="TextBox 4"/>
          <p:cNvSpPr txBox="1"/>
          <p:nvPr/>
        </p:nvSpPr>
        <p:spPr>
          <a:xfrm>
            <a:off x="457200" y="5486400"/>
            <a:ext cx="9144000" cy="9144000"/>
          </a:xfrm>
          <a:prstGeom prst="rect">
            <a:avLst/>
          </a:prstGeom>
          <a:noFill/>
        </p:spPr>
        <p:txBody>
          <a:bodyPr wrap="square" anchor="t">
            <a:spAutoFit/>
          </a:bodyPr>
          <a:lstStyle/>
          <a:p/>
          <a:p>
            <a:pPr>
              <a:spcAft>
                <a:spcPts val="1200"/>
              </a:spcAft>
              <a:defRPr sz="2400">
                <a:solidFill>
                  <a:srgbClr val="000000"/>
                </a:solidFill>
              </a:defRPr>
            </a:pPr>
            <a:r>
              <a:t>RegNetAgents is an LLM-powered multi-agent AI framework that automates gene regulatory network analysis through intelligent workflow orchestration, transforming labor-intensive manual processes into second-scale automated analysis. The system deploys four specialized domain agents (cancer biology, drug discovery, clinical relevance, systems biology) using local language model inference to generate scientific insights with rationales, with graceful fallback to rule-based heuristics for reliability. Built on pre-computed regulatory networks from 500K+ single-cell RNA-seq profiles, the framework integrates network modeling, automated therapeutic target prioritization using network centrality metrics (PageRank, degree centrality), pathway enrichment, and multi-domain interpretation into a conversational interface via Claude Desktop. Framework demonstration on colorectal cancer biomarkers showed complete concordance with published literature across a limited five-gene sample. Therapeutic target prioritization identified literature-supported TP53 interactors (WWTR1, YAP1, CHD4) among top-ranked candidates based on network topology; additional high-ranking regulators (RBPMS, PRRX2, THRA, IKZF2) represent novel hypotheses for experimental validation. Complete analysis of 99 regulators across 5 genes completed in 15-62 seconds, representing orders of magnitude speedup over traditional manual approaches. Natural language interface makes sophisticated gene analysis accessible without programming expertise.</a:t>
            </a:r>
          </a:p>
        </p:txBody>
      </p:sp>
      <p:sp>
        <p:nvSpPr>
          <p:cNvPr id="6" name="Rectangle 5"/>
          <p:cNvSpPr/>
          <p:nvPr/>
        </p:nvSpPr>
        <p:spPr>
          <a:xfrm>
            <a:off x="457200" y="15087600"/>
            <a:ext cx="9144000" cy="731520"/>
          </a:xfrm>
          <a:prstGeom prst="rect">
            <a:avLst/>
          </a:prstGeom>
          <a:solidFill>
            <a:srgbClr val="FF8800"/>
          </a:solidFill>
          <a:ln>
            <a:solidFill>
              <a:srgbClr val="FF88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a:p>
            <a:pPr algn="ctr">
              <a:defRPr sz="3600" b="1">
                <a:solidFill>
                  <a:srgbClr val="FFFFFF"/>
                </a:solidFill>
              </a:defRPr>
            </a:pPr>
            <a:r>
              <a:t>WHY THIS IS NOVEL</a:t>
            </a:r>
          </a:p>
        </p:txBody>
      </p:sp>
      <p:sp>
        <p:nvSpPr>
          <p:cNvPr id="7" name="TextBox 6"/>
          <p:cNvSpPr txBox="1"/>
          <p:nvPr/>
        </p:nvSpPr>
        <p:spPr>
          <a:xfrm>
            <a:off x="457200" y="16002000"/>
            <a:ext cx="9144000" cy="5486400"/>
          </a:xfrm>
          <a:prstGeom prst="rect">
            <a:avLst/>
          </a:prstGeom>
          <a:noFill/>
        </p:spPr>
        <p:txBody>
          <a:bodyPr wrap="square">
            <a:spAutoFit/>
          </a:bodyPr>
          <a:lstStyle/>
          <a:p/>
          <a:p>
            <a:pPr>
              <a:spcBef>
                <a:spcPts val="800"/>
              </a:spcBef>
              <a:spcAft>
                <a:spcPts val="600"/>
              </a:spcAft>
              <a:defRPr sz="2600" b="1">
                <a:solidFill>
                  <a:srgbClr val="003366"/>
                </a:solidFill>
              </a:defRPr>
            </a:pPr>
            <a:r>
              <a:t>Our Innovation</a:t>
            </a:r>
          </a:p>
          <a:p>
            <a:pPr lvl="1">
              <a:spcAft>
                <a:spcPts val="400"/>
              </a:spcAft>
              <a:defRPr sz="2000" b="1">
                <a:solidFill>
                  <a:srgbClr val="000000"/>
                </a:solidFill>
              </a:defRPr>
            </a:pPr>
            <a:r>
              <a:t>LLM-Powered Insights: 4 domain agents use local LLM (Ollama/llama3.1:8b) to generate scientific insights with rationales</a:t>
            </a:r>
          </a:p>
          <a:p>
            <a:pPr lvl="1">
              <a:spcAft>
                <a:spcPts val="400"/>
              </a:spcAft>
              <a:defRPr sz="2000" b="1">
                <a:solidFill>
                  <a:srgbClr val="000000"/>
                </a:solidFill>
              </a:defRPr>
            </a:pPr>
            <a:r>
              <a:t>Automation: Single query replaces multi-step manual workflow</a:t>
            </a:r>
          </a:p>
          <a:p>
            <a:pPr lvl="1">
              <a:spcAft>
                <a:spcPts val="400"/>
              </a:spcAft>
              <a:defRPr sz="2000" b="1">
                <a:solidFill>
                  <a:srgbClr val="000000"/>
                </a:solidFill>
              </a:defRPr>
            </a:pPr>
            <a:r>
              <a:t>Integration: 4 domain perspectives + pathways in one analysis</a:t>
            </a:r>
          </a:p>
          <a:p>
            <a:pPr lvl="1">
              <a:spcAft>
                <a:spcPts val="400"/>
              </a:spcAft>
              <a:defRPr sz="2000" b="1">
                <a:solidFill>
                  <a:srgbClr val="000000"/>
                </a:solidFill>
              </a:defRPr>
            </a:pPr>
            <a:r>
              <a:t>Parallelization: Multi-agent execution (4 domain agents run simultaneously)</a:t>
            </a:r>
          </a:p>
          <a:p>
            <a:pPr lvl="1">
              <a:spcAft>
                <a:spcPts val="400"/>
              </a:spcAft>
              <a:defRPr sz="2000" b="1">
                <a:solidFill>
                  <a:srgbClr val="000000"/>
                </a:solidFill>
              </a:defRPr>
            </a:pPr>
            <a:r>
              <a:t>Graceful Fallback: Automatic fallback to rule-based heuristics for reliability</a:t>
            </a:r>
          </a:p>
          <a:p>
            <a:pPr lvl="1">
              <a:spcAft>
                <a:spcPts val="400"/>
              </a:spcAft>
              <a:defRPr sz="2000" b="1">
                <a:solidFill>
                  <a:srgbClr val="000000"/>
                </a:solidFill>
              </a:defRPr>
            </a:pPr>
            <a:r>
              <a:t>Therapeutic Target Prioritization: Rank regulators by network centrality to prioritize candidate regulators for validation</a:t>
            </a:r>
          </a:p>
          <a:p>
            <a:pPr lvl="1">
              <a:spcAft>
                <a:spcPts val="400"/>
              </a:spcAft>
              <a:defRPr sz="2000" b="1">
                <a:solidFill>
                  <a:srgbClr val="000000"/>
                </a:solidFill>
              </a:defRPr>
            </a:pPr>
            <a:r>
              <a:t>Scalability: 10 cell types pre-computed (cross-cell queries instant)</a:t>
            </a:r>
          </a:p>
          <a:p>
            <a:pPr lvl="1">
              <a:spcAft>
                <a:spcPts val="400"/>
              </a:spcAft>
              <a:defRPr sz="2000" b="1">
                <a:solidFill>
                  <a:srgbClr val="000000"/>
                </a:solidFill>
              </a:defRPr>
            </a:pPr>
            <a:r>
              <a:t>Accessibility: Natural language interface via local MCP server for Claude Desktop</a:t>
            </a:r>
          </a:p>
          <a:p>
            <a:br/>
            <a:pPr>
              <a:spcBef>
                <a:spcPts val="800"/>
              </a:spcBef>
              <a:spcAft>
                <a:spcPts val="600"/>
              </a:spcAft>
              <a:defRPr sz="2600" b="1">
                <a:solidFill>
                  <a:srgbClr val="003366"/>
                </a:solidFill>
              </a:defRPr>
            </a:pPr>
            <a:r>
              <a:t>Performance Impact</a:t>
            </a:r>
          </a:p>
          <a:p>
            <a:pPr lvl="1">
              <a:spcAft>
                <a:spcPts val="400"/>
              </a:spcAft>
              <a:defRPr sz="2000" b="1">
                <a:solidFill>
                  <a:srgbClr val="000000"/>
                </a:solidFill>
              </a:defRPr>
            </a:pPr>
            <a:r>
              <a:t>Single gene (rule-based): Manual → 0.68 sec</a:t>
            </a:r>
          </a:p>
          <a:p>
            <a:pPr lvl="1">
              <a:spcAft>
                <a:spcPts val="400"/>
              </a:spcAft>
              <a:defRPr sz="2000" b="1">
                <a:solidFill>
                  <a:srgbClr val="000000"/>
                </a:solidFill>
              </a:defRPr>
            </a:pPr>
            <a:r>
              <a:t>Single gene (LLM-powered): Manual → 15 sec</a:t>
            </a:r>
          </a:p>
          <a:p>
            <a:pPr lvl="1">
              <a:spcAft>
                <a:spcPts val="400"/>
              </a:spcAft>
              <a:defRPr sz="2000" b="1">
                <a:solidFill>
                  <a:srgbClr val="000000"/>
                </a:solidFill>
              </a:defRPr>
            </a:pPr>
            <a:r>
              <a:t>5 genes (LLM-powered): Manual → 62 sec</a:t>
            </a:r>
          </a:p>
        </p:txBody>
      </p:sp>
      <p:sp>
        <p:nvSpPr>
          <p:cNvPr id="8" name="Rectangle 7"/>
          <p:cNvSpPr/>
          <p:nvPr/>
        </p:nvSpPr>
        <p:spPr>
          <a:xfrm>
            <a:off x="457200" y="21945600"/>
            <a:ext cx="9144000" cy="731520"/>
          </a:xfrm>
          <a:prstGeom prst="rect">
            <a:avLst/>
          </a:prstGeom>
          <a:solidFill>
            <a:srgbClr val="0066CC"/>
          </a:solidFill>
          <a:ln>
            <a:solidFill>
              <a:srgbClr val="0066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a:p>
            <a:pPr algn="ctr">
              <a:defRPr sz="3600" b="1">
                <a:solidFill>
                  <a:srgbClr val="FFFFFF"/>
                </a:solidFill>
              </a:defRPr>
            </a:pPr>
            <a:r>
              <a:t>THE CHALLENGE</a:t>
            </a:r>
          </a:p>
        </p:txBody>
      </p:sp>
      <p:sp>
        <p:nvSpPr>
          <p:cNvPr id="9" name="TextBox 8"/>
          <p:cNvSpPr txBox="1"/>
          <p:nvPr/>
        </p:nvSpPr>
        <p:spPr>
          <a:xfrm>
            <a:off x="457200" y="22860000"/>
            <a:ext cx="9144000" cy="3200400"/>
          </a:xfrm>
          <a:prstGeom prst="rect">
            <a:avLst/>
          </a:prstGeom>
          <a:noFill/>
        </p:spPr>
        <p:txBody>
          <a:bodyPr wrap="square">
            <a:spAutoFit/>
          </a:bodyPr>
          <a:lstStyle/>
          <a:p/>
          <a:p>
            <a:pPr lvl="1">
              <a:spcAft>
                <a:spcPts val="400"/>
              </a:spcAft>
              <a:defRPr sz="2000" b="0">
                <a:solidFill>
                  <a:srgbClr val="000000"/>
                </a:solidFill>
              </a:defRPr>
            </a:pPr>
            <a:r>
              <a:t>Gene regulatory networks are complex, multi-layered systems requiring multiple database queries</a:t>
            </a:r>
          </a:p>
          <a:p>
            <a:pPr lvl="1">
              <a:spcAft>
                <a:spcPts val="400"/>
              </a:spcAft>
              <a:defRPr sz="2000" b="0">
                <a:solidFill>
                  <a:srgbClr val="000000"/>
                </a:solidFill>
              </a:defRPr>
            </a:pPr>
            <a:r>
              <a:t>Manual analysis across multiple domains (cancer, drug, clinical) requires labor-intensive effort per gene</a:t>
            </a:r>
          </a:p>
          <a:p>
            <a:pPr lvl="1">
              <a:spcAft>
                <a:spcPts val="400"/>
              </a:spcAft>
              <a:defRPr sz="2000" b="0">
                <a:solidFill>
                  <a:srgbClr val="000000"/>
                </a:solidFill>
              </a:defRPr>
            </a:pPr>
            <a:r>
              <a:t>Traditional tools lack integration across biological perspectives (separate tools for networks, pathways, literature)</a:t>
            </a:r>
          </a:p>
          <a:p>
            <a:pPr lvl="1">
              <a:spcAft>
                <a:spcPts val="400"/>
              </a:spcAft>
              <a:defRPr sz="2000" b="0">
                <a:solidFill>
                  <a:srgbClr val="000000"/>
                </a:solidFill>
              </a:defRPr>
            </a:pPr>
            <a:r>
              <a:t>Cross-cell-type analysis requires repeating the entire workflow per cell type</a:t>
            </a:r>
          </a:p>
          <a:p>
            <a:pPr lvl="1">
              <a:spcAft>
                <a:spcPts val="400"/>
              </a:spcAft>
              <a:defRPr sz="2000" b="0">
                <a:solidFill>
                  <a:srgbClr val="000000"/>
                </a:solidFill>
              </a:defRPr>
            </a:pPr>
            <a:r>
              <a:t>No conversational interface for hypothesis-driven exploration</a:t>
            </a:r>
          </a:p>
        </p:txBody>
      </p:sp>
      <p:sp>
        <p:nvSpPr>
          <p:cNvPr id="10" name="Rectangle 9"/>
          <p:cNvSpPr/>
          <p:nvPr/>
        </p:nvSpPr>
        <p:spPr>
          <a:xfrm>
            <a:off x="457200" y="26517600"/>
            <a:ext cx="9144000" cy="731520"/>
          </a:xfrm>
          <a:prstGeom prst="rect">
            <a:avLst/>
          </a:prstGeom>
          <a:solidFill>
            <a:srgbClr val="00AA00"/>
          </a:solidFill>
          <a:ln>
            <a:solidFill>
              <a:srgbClr val="00AA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a:p>
            <a:pPr algn="ctr">
              <a:defRPr sz="3600" b="1">
                <a:solidFill>
                  <a:srgbClr val="FFFFFF"/>
                </a:solidFill>
              </a:defRPr>
            </a:pPr>
            <a:r>
              <a:t>DATA &amp; VALIDATION</a:t>
            </a:r>
          </a:p>
        </p:txBody>
      </p:sp>
      <p:sp>
        <p:nvSpPr>
          <p:cNvPr id="11" name="TextBox 10"/>
          <p:cNvSpPr txBox="1"/>
          <p:nvPr/>
        </p:nvSpPr>
        <p:spPr>
          <a:xfrm>
            <a:off x="457200" y="27432000"/>
            <a:ext cx="9144000" cy="4114800"/>
          </a:xfrm>
          <a:prstGeom prst="rect">
            <a:avLst/>
          </a:prstGeom>
          <a:noFill/>
        </p:spPr>
        <p:txBody>
          <a:bodyPr wrap="square">
            <a:spAutoFit/>
          </a:bodyPr>
          <a:lstStyle/>
          <a:p/>
          <a:p>
            <a:pPr>
              <a:spcBef>
                <a:spcPts val="800"/>
              </a:spcBef>
              <a:spcAft>
                <a:spcPts val="600"/>
              </a:spcAft>
              <a:defRPr sz="2600" b="1">
                <a:solidFill>
                  <a:srgbClr val="003366"/>
                </a:solidFill>
              </a:defRPr>
            </a:pPr>
            <a:r>
              <a:t>Regulatory Networks</a:t>
            </a:r>
          </a:p>
          <a:p>
            <a:pPr lvl="1">
              <a:spcAft>
                <a:spcPts val="400"/>
              </a:spcAft>
              <a:defRPr sz="2000" b="0">
                <a:solidFill>
                  <a:srgbClr val="000000"/>
                </a:solidFill>
              </a:defRPr>
            </a:pPr>
            <a:r>
              <a:t>GREmLN foundation model (Zhang et al. 2025)</a:t>
            </a:r>
          </a:p>
          <a:p>
            <a:pPr lvl="1">
              <a:spcAft>
                <a:spcPts val="400"/>
              </a:spcAft>
              <a:defRPr sz="2000" b="0">
                <a:solidFill>
                  <a:srgbClr val="000000"/>
                </a:solidFill>
              </a:defRPr>
            </a:pPr>
            <a:r>
              <a:t>500K+ cells from CELLxGENE • ARACNe-AP algorithm</a:t>
            </a:r>
          </a:p>
          <a:p>
            <a:pPr lvl="1">
              <a:spcAft>
                <a:spcPts val="400"/>
              </a:spcAft>
              <a:defRPr sz="2000" b="0">
                <a:solidFill>
                  <a:srgbClr val="000000"/>
                </a:solidFill>
              </a:defRPr>
            </a:pPr>
            <a:r>
              <a:t>10 cell types: immune, blood, epithelial</a:t>
            </a:r>
          </a:p>
          <a:p>
            <a:br/>
            <a:pPr>
              <a:spcBef>
                <a:spcPts val="800"/>
              </a:spcBef>
              <a:spcAft>
                <a:spcPts val="600"/>
              </a:spcAft>
              <a:defRPr sz="2600" b="1">
                <a:solidFill>
                  <a:srgbClr val="003366"/>
                </a:solidFill>
              </a:defRPr>
            </a:pPr>
            <a:r>
              <a:t>Pathway Enrichment</a:t>
            </a:r>
          </a:p>
          <a:p>
            <a:pPr lvl="1">
              <a:spcAft>
                <a:spcPts val="400"/>
              </a:spcAft>
              <a:defRPr sz="2000" b="0">
                <a:solidFill>
                  <a:srgbClr val="000000"/>
                </a:solidFill>
              </a:defRPr>
            </a:pPr>
            <a:r>
              <a:t>Reactome: Hypergeometric test, FDR &lt; 0.05</a:t>
            </a:r>
          </a:p>
          <a:p>
            <a:br/>
            <a:pPr>
              <a:spcBef>
                <a:spcPts val="800"/>
              </a:spcBef>
              <a:spcAft>
                <a:spcPts val="600"/>
              </a:spcAft>
              <a:defRPr sz="2600" b="1">
                <a:solidFill>
                  <a:srgbClr val="003366"/>
                </a:solidFill>
              </a:defRPr>
            </a:pPr>
            <a:r>
              <a:t>Validation</a:t>
            </a:r>
          </a:p>
          <a:p>
            <a:pPr lvl="1">
              <a:spcAft>
                <a:spcPts val="400"/>
              </a:spcAft>
              <a:defRPr sz="2000" b="0">
                <a:solidFill>
                  <a:srgbClr val="000000"/>
                </a:solidFill>
              </a:defRPr>
            </a:pPr>
            <a:r>
              <a:t>CRC case: 5/5 genes literature-validated</a:t>
            </a:r>
          </a:p>
          <a:p>
            <a:pPr lvl="1">
              <a:spcAft>
                <a:spcPts val="400"/>
              </a:spcAft>
              <a:defRPr sz="2000" b="0">
                <a:solidFill>
                  <a:srgbClr val="000000"/>
                </a:solidFill>
              </a:defRPr>
            </a:pPr>
            <a:r>
              <a:t>All data from public sources</a:t>
            </a:r>
          </a:p>
        </p:txBody>
      </p:sp>
      <p:sp>
        <p:nvSpPr>
          <p:cNvPr id="12" name="Rectangle 11"/>
          <p:cNvSpPr/>
          <p:nvPr/>
        </p:nvSpPr>
        <p:spPr>
          <a:xfrm>
            <a:off x="10058400" y="3840480"/>
            <a:ext cx="10515600" cy="731520"/>
          </a:xfrm>
          <a:prstGeom prst="rect">
            <a:avLst/>
          </a:prstGeom>
          <a:solidFill>
            <a:srgbClr val="0066CC"/>
          </a:solidFill>
          <a:ln>
            <a:solidFill>
              <a:srgbClr val="0066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a:p>
            <a:pPr algn="ctr">
              <a:defRPr sz="3600" b="1">
                <a:solidFill>
                  <a:srgbClr val="FFFFFF"/>
                </a:solidFill>
              </a:defRPr>
            </a:pPr>
            <a:r>
              <a:t>METHODS: Multi-Agent Architecture</a:t>
            </a:r>
          </a:p>
        </p:txBody>
      </p:sp>
      <p:sp>
        <p:nvSpPr>
          <p:cNvPr id="13" name="Rounded Rectangle 12"/>
          <p:cNvSpPr/>
          <p:nvPr/>
        </p:nvSpPr>
        <p:spPr>
          <a:xfrm>
            <a:off x="10515600" y="4754880"/>
            <a:ext cx="9601200" cy="1097280"/>
          </a:xfrm>
          <a:prstGeom prst="roundRect">
            <a:avLst/>
          </a:prstGeom>
          <a:solidFill>
            <a:srgbClr val="003366"/>
          </a:solidFill>
          <a:ln w="25400">
            <a:solidFill>
              <a:srgbClr val="646464"/>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p>
          <a:p>
            <a:pPr algn="ctr">
              <a:defRPr sz="2200" b="1">
                <a:solidFill>
                  <a:srgbClr val="FFFFFF"/>
                </a:solidFill>
              </a:defRPr>
            </a:pPr>
            <a:r>
              <a:t>User Query (Claude)</a:t>
            </a:r>
          </a:p>
        </p:txBody>
      </p:sp>
      <p:cxnSp>
        <p:nvCxnSpPr>
          <p:cNvPr id="14" name="Connector 13"/>
          <p:cNvCxnSpPr/>
          <p:nvPr/>
        </p:nvCxnSpPr>
        <p:spPr>
          <a:xfrm>
            <a:off x="15316200" y="5897880"/>
            <a:ext cx="0" cy="182880"/>
          </a:xfrm>
          <a:prstGeom prst="line">
            <a:avLst/>
          </a:prstGeom>
          <a:ln w="38100">
            <a:solidFill>
              <a:srgbClr val="003366"/>
            </a:solidFill>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10515600" y="6126480"/>
            <a:ext cx="9601200" cy="1097280"/>
          </a:xfrm>
          <a:prstGeom prst="roundRect">
            <a:avLst/>
          </a:prstGeom>
          <a:solidFill>
            <a:srgbClr val="0066CC"/>
          </a:solidFill>
          <a:ln w="25400">
            <a:solidFill>
              <a:srgbClr val="646464"/>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p>
          <a:p>
            <a:pPr algn="ctr">
              <a:defRPr sz="2200" b="1">
                <a:solidFill>
                  <a:srgbClr val="FFFFFF"/>
                </a:solidFill>
              </a:defRPr>
            </a:pPr>
            <a:r>
              <a:t>Validate Inputs &amp; Setup</a:t>
            </a:r>
          </a:p>
        </p:txBody>
      </p:sp>
      <p:cxnSp>
        <p:nvCxnSpPr>
          <p:cNvPr id="16" name="Connector 15"/>
          <p:cNvCxnSpPr/>
          <p:nvPr/>
        </p:nvCxnSpPr>
        <p:spPr>
          <a:xfrm>
            <a:off x="15316200" y="7269480"/>
            <a:ext cx="0" cy="182880"/>
          </a:xfrm>
          <a:prstGeom prst="line">
            <a:avLst/>
          </a:prstGeom>
          <a:ln w="38100">
            <a:solidFill>
              <a:srgbClr val="0066CC"/>
            </a:solidFill>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10515600" y="7498080"/>
            <a:ext cx="9601200" cy="1097280"/>
          </a:xfrm>
          <a:prstGeom prst="roundRect">
            <a:avLst/>
          </a:prstGeom>
          <a:solidFill>
            <a:srgbClr val="00AA00"/>
          </a:solidFill>
          <a:ln w="25400">
            <a:solidFill>
              <a:srgbClr val="646464"/>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p>
          <a:p>
            <a:pPr algn="ctr">
              <a:defRPr sz="2200" b="1">
                <a:solidFill>
                  <a:srgbClr val="FFFFFF"/>
                </a:solidFill>
              </a:defRPr>
            </a:pPr>
            <a:r>
              <a:t>RegNetAgentsModelingAgent:</a:t>
            </a:r>
            <a:br/>
            <a:r>
              <a:t>Network Analysis</a:t>
            </a:r>
          </a:p>
        </p:txBody>
      </p:sp>
      <p:cxnSp>
        <p:nvCxnSpPr>
          <p:cNvPr id="18" name="Connector 17"/>
          <p:cNvCxnSpPr/>
          <p:nvPr/>
        </p:nvCxnSpPr>
        <p:spPr>
          <a:xfrm>
            <a:off x="15316200" y="8641080"/>
            <a:ext cx="0" cy="182880"/>
          </a:xfrm>
          <a:prstGeom prst="line">
            <a:avLst/>
          </a:prstGeom>
          <a:ln w="38100">
            <a:solidFill>
              <a:srgbClr val="00AA00"/>
            </a:solidFill>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10515600" y="8869680"/>
            <a:ext cx="9601200" cy="1097280"/>
          </a:xfrm>
          <a:prstGeom prst="roundRect">
            <a:avLst/>
          </a:prstGeom>
          <a:solidFill>
            <a:srgbClr val="00AA00"/>
          </a:solidFill>
          <a:ln w="25400">
            <a:solidFill>
              <a:srgbClr val="646464"/>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p>
          <a:p>
            <a:pPr algn="ctr">
              <a:defRPr sz="2200" b="1">
                <a:solidFill>
                  <a:srgbClr val="FFFFFF"/>
                </a:solidFill>
              </a:defRPr>
            </a:pPr>
            <a:r>
              <a:t>RegNetAgentsModelingAgent:</a:t>
            </a:r>
            <a:br/>
            <a:r>
              <a:t>Regulators + Targets</a:t>
            </a:r>
          </a:p>
        </p:txBody>
      </p:sp>
      <p:cxnSp>
        <p:nvCxnSpPr>
          <p:cNvPr id="20" name="Connector 19"/>
          <p:cNvCxnSpPr/>
          <p:nvPr/>
        </p:nvCxnSpPr>
        <p:spPr>
          <a:xfrm>
            <a:off x="15316200" y="10012680"/>
            <a:ext cx="0" cy="182880"/>
          </a:xfrm>
          <a:prstGeom prst="line">
            <a:avLst/>
          </a:prstGeom>
          <a:ln w="38100">
            <a:solidFill>
              <a:srgbClr val="00AA00"/>
            </a:solidFill>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10515600" y="10241280"/>
            <a:ext cx="9601200" cy="1097280"/>
          </a:xfrm>
          <a:prstGeom prst="roundRect">
            <a:avLst/>
          </a:prstGeom>
          <a:solidFill>
            <a:srgbClr val="00AA00"/>
          </a:solidFill>
          <a:ln w="25400">
            <a:solidFill>
              <a:srgbClr val="646464"/>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p>
          <a:p>
            <a:pPr algn="ctr">
              <a:defRPr sz="2200" b="1">
                <a:solidFill>
                  <a:srgbClr val="FFFFFF"/>
                </a:solidFill>
              </a:defRPr>
            </a:pPr>
            <a:r>
              <a:t>RegNetAgentsModelingAgent:</a:t>
            </a:r>
            <a:br/>
            <a:r>
              <a:t>Therapeutic Target Prioritization</a:t>
            </a:r>
          </a:p>
        </p:txBody>
      </p:sp>
      <p:cxnSp>
        <p:nvCxnSpPr>
          <p:cNvPr id="22" name="Connector 21"/>
          <p:cNvCxnSpPr/>
          <p:nvPr/>
        </p:nvCxnSpPr>
        <p:spPr>
          <a:xfrm>
            <a:off x="15316200" y="11384280"/>
            <a:ext cx="0" cy="182880"/>
          </a:xfrm>
          <a:prstGeom prst="line">
            <a:avLst/>
          </a:prstGeom>
          <a:ln w="38100">
            <a:solidFill>
              <a:srgbClr val="00AA00"/>
            </a:solidFill>
          </a:ln>
        </p:spPr>
        <p:style>
          <a:lnRef idx="2">
            <a:schemeClr val="accent1"/>
          </a:lnRef>
          <a:fillRef idx="0">
            <a:schemeClr val="accent1"/>
          </a:fillRef>
          <a:effectRef idx="1">
            <a:schemeClr val="accent1"/>
          </a:effectRef>
          <a:fontRef idx="minor">
            <a:schemeClr val="tx1"/>
          </a:fontRef>
        </p:style>
      </p:cxnSp>
      <p:sp>
        <p:nvSpPr>
          <p:cNvPr id="23" name="Rounded Rectangle 22"/>
          <p:cNvSpPr/>
          <p:nvPr/>
        </p:nvSpPr>
        <p:spPr>
          <a:xfrm>
            <a:off x="10515600" y="11612880"/>
            <a:ext cx="9601200" cy="1097280"/>
          </a:xfrm>
          <a:prstGeom prst="roundRect">
            <a:avLst/>
          </a:prstGeom>
          <a:solidFill>
            <a:srgbClr val="9933CC"/>
          </a:solidFill>
          <a:ln w="25400">
            <a:solidFill>
              <a:srgbClr val="646464"/>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p>
          <a:p>
            <a:pPr algn="ctr">
              <a:defRPr sz="2200" b="1">
                <a:solidFill>
                  <a:srgbClr val="FFFFFF"/>
                </a:solidFill>
              </a:defRPr>
            </a:pPr>
            <a:r>
              <a:t>PathwayEnricherAgent:</a:t>
            </a:r>
            <a:br/>
            <a:r>
              <a:t>Reactome Enrichment</a:t>
            </a:r>
          </a:p>
        </p:txBody>
      </p:sp>
      <p:cxnSp>
        <p:nvCxnSpPr>
          <p:cNvPr id="24" name="Connector 23"/>
          <p:cNvCxnSpPr/>
          <p:nvPr/>
        </p:nvCxnSpPr>
        <p:spPr>
          <a:xfrm>
            <a:off x="15316200" y="12755880"/>
            <a:ext cx="0" cy="182880"/>
          </a:xfrm>
          <a:prstGeom prst="line">
            <a:avLst/>
          </a:prstGeom>
          <a:ln w="38100">
            <a:solidFill>
              <a:srgbClr val="9933CC"/>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15316200" y="12710160"/>
            <a:ext cx="0" cy="457200"/>
          </a:xfrm>
          <a:prstGeom prst="line">
            <a:avLst/>
          </a:prstGeom>
          <a:ln w="38100">
            <a:solidFill>
              <a:srgbClr val="646464"/>
            </a:solidFill>
          </a:ln>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10515600" y="13258800"/>
            <a:ext cx="9601200" cy="548640"/>
          </a:xfrm>
          <a:prstGeom prst="rect">
            <a:avLst/>
          </a:prstGeom>
          <a:noFill/>
        </p:spPr>
        <p:txBody>
          <a:bodyPr wrap="none">
            <a:spAutoFit/>
          </a:bodyPr>
          <a:lstStyle/>
          <a:p/>
          <a:p>
            <a:pPr algn="ctr">
              <a:defRPr sz="2400" b="1">
                <a:solidFill>
                  <a:srgbClr val="FF8800"/>
                </a:solidFill>
              </a:defRPr>
            </a:pPr>
            <a:r>
              <a:t>4 Domain Agents (PARALLEL via asyncio)</a:t>
            </a:r>
          </a:p>
        </p:txBody>
      </p:sp>
      <p:sp>
        <p:nvSpPr>
          <p:cNvPr id="27" name="Rounded Rectangle 26"/>
          <p:cNvSpPr/>
          <p:nvPr/>
        </p:nvSpPr>
        <p:spPr>
          <a:xfrm>
            <a:off x="10515600" y="13990320"/>
            <a:ext cx="2286000" cy="1097280"/>
          </a:xfrm>
          <a:prstGeom prst="roundRect">
            <a:avLst/>
          </a:prstGeom>
          <a:solidFill>
            <a:srgbClr val="FF8800"/>
          </a:solidFill>
          <a:ln w="25400">
            <a:solidFill>
              <a:srgbClr val="646464"/>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p>
          <a:p>
            <a:pPr algn="ctr">
              <a:defRPr sz="2200" b="1">
                <a:solidFill>
                  <a:srgbClr val="FFFFFF"/>
                </a:solidFill>
              </a:defRPr>
            </a:pPr>
            <a:r>
              <a:t>Cancer</a:t>
            </a:r>
            <a:br/>
            <a:r>
              <a:t>Agent</a:t>
            </a:r>
          </a:p>
        </p:txBody>
      </p:sp>
      <p:sp>
        <p:nvSpPr>
          <p:cNvPr id="28" name="Rounded Rectangle 27"/>
          <p:cNvSpPr/>
          <p:nvPr/>
        </p:nvSpPr>
        <p:spPr>
          <a:xfrm>
            <a:off x="12893040" y="13990320"/>
            <a:ext cx="2286000" cy="1097280"/>
          </a:xfrm>
          <a:prstGeom prst="roundRect">
            <a:avLst/>
          </a:prstGeom>
          <a:solidFill>
            <a:srgbClr val="FF8800"/>
          </a:solidFill>
          <a:ln w="25400">
            <a:solidFill>
              <a:srgbClr val="646464"/>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p>
          <a:p>
            <a:pPr algn="ctr">
              <a:defRPr sz="2200" b="1">
                <a:solidFill>
                  <a:srgbClr val="FFFFFF"/>
                </a:solidFill>
              </a:defRPr>
            </a:pPr>
            <a:r>
              <a:t>Drug</a:t>
            </a:r>
            <a:br/>
            <a:r>
              <a:t>Agent</a:t>
            </a:r>
          </a:p>
        </p:txBody>
      </p:sp>
      <p:sp>
        <p:nvSpPr>
          <p:cNvPr id="29" name="Rounded Rectangle 28"/>
          <p:cNvSpPr/>
          <p:nvPr/>
        </p:nvSpPr>
        <p:spPr>
          <a:xfrm>
            <a:off x="15270480" y="13990320"/>
            <a:ext cx="2286000" cy="1097280"/>
          </a:xfrm>
          <a:prstGeom prst="roundRect">
            <a:avLst/>
          </a:prstGeom>
          <a:solidFill>
            <a:srgbClr val="FF8800"/>
          </a:solidFill>
          <a:ln w="25400">
            <a:solidFill>
              <a:srgbClr val="646464"/>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p>
          <a:p>
            <a:pPr algn="ctr">
              <a:defRPr sz="2200" b="1">
                <a:solidFill>
                  <a:srgbClr val="FFFFFF"/>
                </a:solidFill>
              </a:defRPr>
            </a:pPr>
            <a:r>
              <a:t>Clinical</a:t>
            </a:r>
            <a:br/>
            <a:r>
              <a:t>Agent</a:t>
            </a:r>
          </a:p>
        </p:txBody>
      </p:sp>
      <p:sp>
        <p:nvSpPr>
          <p:cNvPr id="30" name="Rounded Rectangle 29"/>
          <p:cNvSpPr/>
          <p:nvPr/>
        </p:nvSpPr>
        <p:spPr>
          <a:xfrm>
            <a:off x="17647920" y="13990320"/>
            <a:ext cx="2286000" cy="1097280"/>
          </a:xfrm>
          <a:prstGeom prst="roundRect">
            <a:avLst/>
          </a:prstGeom>
          <a:solidFill>
            <a:srgbClr val="FF8800"/>
          </a:solidFill>
          <a:ln w="25400">
            <a:solidFill>
              <a:srgbClr val="646464"/>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p>
          <a:p>
            <a:pPr algn="ctr">
              <a:defRPr sz="2200" b="1">
                <a:solidFill>
                  <a:srgbClr val="FFFFFF"/>
                </a:solidFill>
              </a:defRPr>
            </a:pPr>
            <a:r>
              <a:t>Systems</a:t>
            </a:r>
            <a:br/>
            <a:r>
              <a:t>Agent</a:t>
            </a:r>
          </a:p>
        </p:txBody>
      </p:sp>
      <p:cxnSp>
        <p:nvCxnSpPr>
          <p:cNvPr id="31" name="Connector 30"/>
          <p:cNvCxnSpPr/>
          <p:nvPr/>
        </p:nvCxnSpPr>
        <p:spPr>
          <a:xfrm>
            <a:off x="15316200" y="15361920"/>
            <a:ext cx="0" cy="822960"/>
          </a:xfrm>
          <a:prstGeom prst="line">
            <a:avLst/>
          </a:prstGeom>
          <a:ln w="38100">
            <a:solidFill>
              <a:srgbClr val="646464"/>
            </a:solidFill>
          </a:ln>
        </p:spPr>
        <p:style>
          <a:lnRef idx="2">
            <a:schemeClr val="accent1"/>
          </a:lnRef>
          <a:fillRef idx="0">
            <a:schemeClr val="accent1"/>
          </a:fillRef>
          <a:effectRef idx="1">
            <a:schemeClr val="accent1"/>
          </a:effectRef>
          <a:fontRef idx="minor">
            <a:schemeClr val="tx1"/>
          </a:fontRef>
        </p:style>
      </p:cxnSp>
      <p:sp>
        <p:nvSpPr>
          <p:cNvPr id="32" name="Rounded Rectangle 31"/>
          <p:cNvSpPr/>
          <p:nvPr/>
        </p:nvSpPr>
        <p:spPr>
          <a:xfrm>
            <a:off x="10515600" y="16276320"/>
            <a:ext cx="9601200" cy="1097280"/>
          </a:xfrm>
          <a:prstGeom prst="roundRect">
            <a:avLst/>
          </a:prstGeom>
          <a:solidFill>
            <a:srgbClr val="9933CC"/>
          </a:solidFill>
          <a:ln w="25400">
            <a:solidFill>
              <a:srgbClr val="646464"/>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p>
          <a:p>
            <a:pPr algn="ctr">
              <a:defRPr sz="2200" b="1">
                <a:solidFill>
                  <a:srgbClr val="FFFFFF"/>
                </a:solidFill>
              </a:defRPr>
            </a:pPr>
            <a:r>
              <a:t>Generate Comprehensive Report</a:t>
            </a:r>
          </a:p>
        </p:txBody>
      </p:sp>
      <p:sp>
        <p:nvSpPr>
          <p:cNvPr id="33" name="Rectangle 32"/>
          <p:cNvSpPr/>
          <p:nvPr/>
        </p:nvSpPr>
        <p:spPr>
          <a:xfrm>
            <a:off x="10058400" y="17647920"/>
            <a:ext cx="10515600" cy="731520"/>
          </a:xfrm>
          <a:prstGeom prst="rect">
            <a:avLst/>
          </a:prstGeom>
          <a:solidFill>
            <a:srgbClr val="003366"/>
          </a:solidFill>
          <a:ln>
            <a:solidFill>
              <a:srgbClr val="0033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a:p>
            <a:pPr algn="ctr">
              <a:defRPr sz="3600" b="1">
                <a:solidFill>
                  <a:srgbClr val="FFFFFF"/>
                </a:solidFill>
              </a:defRPr>
            </a:pPr>
            <a:r>
              <a:t>Specialized Agents</a:t>
            </a:r>
          </a:p>
        </p:txBody>
      </p:sp>
      <p:sp>
        <p:nvSpPr>
          <p:cNvPr id="34" name="TextBox 33"/>
          <p:cNvSpPr txBox="1"/>
          <p:nvPr/>
        </p:nvSpPr>
        <p:spPr>
          <a:xfrm>
            <a:off x="10058400" y="18562320"/>
            <a:ext cx="10515600" cy="9144000"/>
          </a:xfrm>
          <a:prstGeom prst="rect">
            <a:avLst/>
          </a:prstGeom>
          <a:noFill/>
        </p:spPr>
        <p:txBody>
          <a:bodyPr wrap="square">
            <a:spAutoFit/>
          </a:bodyPr>
          <a:lstStyle/>
          <a:p/>
          <a:p>
            <a:pPr>
              <a:defRPr sz="2000" b="1">
                <a:solidFill>
                  <a:srgbClr val="003366"/>
                </a:solidFill>
              </a:defRPr>
            </a:pPr>
            <a:r>
              <a:t>RegNetAgentsModelingAgent: </a:t>
            </a:r>
          </a:p>
          <a:p>
            <a:pPr lvl="1">
              <a:spcAft>
                <a:spcPts val="800"/>
              </a:spcAft>
              <a:defRPr sz="1800">
                <a:solidFill>
                  <a:srgbClr val="000000"/>
                </a:solidFill>
              </a:defRPr>
            </a:pPr>
            <a:r>
              <a:t>Analyzes gene regulatory networks to identify upstream regulators and downstream targets; determines regulatory role (hub/intermediate/terminal); performs cross-cell-type comparison; ranks upstream regulators to identify therapeutic targets using network centrality metrics (PageRank, out-degree centrality) → Gene position in regulatory hierarchy, regulatory strength, cell-type specificity; therapeutic target prioritization with centrality-based rankings (PageRank primary, out-degree secondary), cascade effects, network connectivity assessment</a:t>
            </a:r>
          </a:p>
          <a:p>
            <a:pPr>
              <a:defRPr sz="2000" b="1">
                <a:solidFill>
                  <a:srgbClr val="003366"/>
                </a:solidFill>
              </a:defRPr>
            </a:pPr>
            <a:r>
              <a:t>PathwayEnricherAgent: </a:t>
            </a:r>
          </a:p>
          <a:p>
            <a:pPr lvl="1">
              <a:spcAft>
                <a:spcPts val="800"/>
              </a:spcAft>
              <a:defRPr sz="1800">
                <a:solidFill>
                  <a:srgbClr val="000000"/>
                </a:solidFill>
              </a:defRPr>
            </a:pPr>
            <a:r>
              <a:t>Statistical pathway enrichment via Reactome API; identifies significant biological pathways with FDR correction → Top enriched pathways with p-values and FDR scores; biological process context</a:t>
            </a:r>
          </a:p>
          <a:p>
            <a:pPr>
              <a:defRPr sz="2000" b="1">
                <a:solidFill>
                  <a:srgbClr val="003366"/>
                </a:solidFill>
              </a:defRPr>
            </a:pPr>
            <a:r>
              <a:t>Cancer Research Agent (LLM-Powered): </a:t>
            </a:r>
          </a:p>
          <a:p>
            <a:pPr lvl="1">
              <a:spcAft>
                <a:spcPts val="800"/>
              </a:spcAft>
              <a:defRPr sz="1800">
                <a:solidFill>
                  <a:srgbClr val="000000"/>
                </a:solidFill>
              </a:defRPr>
            </a:pPr>
            <a:r>
              <a:t>**LLM-generated insights** using local Ollama inference (llama3.1:8b); evaluates cancer biology relevance with scientific rationales; graceful fallback to rule-based heuristics if LLM unavailable → AI-generated oncogenic potential classification with rationale, tumor suppressor likelihood with explanation, therapeutic target classification with scientific justification; falls back to network connectivity-based heuristics for reliability</a:t>
            </a:r>
          </a:p>
          <a:p>
            <a:pPr>
              <a:defRPr sz="2000" b="1">
                <a:solidFill>
                  <a:srgbClr val="003366"/>
                </a:solidFill>
              </a:defRPr>
            </a:pPr>
            <a:r>
              <a:t>Drug Development Agent (LLM-Powered): </a:t>
            </a:r>
          </a:p>
          <a:p>
            <a:pPr lvl="1">
              <a:spcAft>
                <a:spcPts val="800"/>
              </a:spcAft>
              <a:defRPr sz="1800">
                <a:solidFill>
                  <a:srgbClr val="000000"/>
                </a:solidFill>
              </a:defRPr>
            </a:pPr>
            <a:r>
              <a:t>**LLM-generated insights** using local Ollama inference; analyzes therapeutic potential with scientific rationales for druggability assessments and intervention strategies → AI-generated druggability assessment with rationale, intervention strategy recommendations with explanation, development timeline estimates with justification; falls back to connectivity-based rules for reliability</a:t>
            </a:r>
          </a:p>
          <a:p>
            <a:pPr>
              <a:defRPr sz="2000" b="1">
                <a:solidFill>
                  <a:srgbClr val="003366"/>
                </a:solidFill>
              </a:defRPr>
            </a:pPr>
            <a:r>
              <a:t>Clinical Relevance Agent (LLM-Powered): </a:t>
            </a:r>
          </a:p>
          <a:p>
            <a:pPr lvl="1">
              <a:spcAft>
                <a:spcPts val="800"/>
              </a:spcAft>
              <a:defRPr sz="1800">
                <a:solidFill>
                  <a:srgbClr val="000000"/>
                </a:solidFill>
              </a:defRPr>
            </a:pPr>
            <a:r>
              <a:t>**LLM-generated insights** using local Ollama inference; determines clinical utility with scientific rationales for biomarker classifications → AI-generated biomarker classification with rationale (diagnostic/prognostic/predictive), disease association likelihood with explanation, clinical actionability assessment with justification; falls back to network position analysis for reliability</a:t>
            </a:r>
          </a:p>
          <a:p>
            <a:pPr>
              <a:defRPr sz="2000" b="1">
                <a:solidFill>
                  <a:srgbClr val="003366"/>
                </a:solidFill>
              </a:defRPr>
            </a:pPr>
            <a:r>
              <a:t>Systems Biology Agent (LLM-Powered): </a:t>
            </a:r>
          </a:p>
          <a:p>
            <a:pPr lvl="1">
              <a:spcAft>
                <a:spcPts val="800"/>
              </a:spcAft>
              <a:defRPr sz="1800">
                <a:solidFill>
                  <a:srgbClr val="000000"/>
                </a:solidFill>
              </a:defRPr>
            </a:pPr>
            <a:r>
              <a:t>**LLM-generated insights** using local Ollama inference; quantifies network topology with scientific rationales for centrality interpretations → AI-generated network centrality interpretations with rationale, hub analysis with explanation, impact scope estimates with scientific justification; falls back to PageRank/degree centrality calculations for reliability</a:t>
            </a:r>
          </a:p>
        </p:txBody>
      </p:sp>
      <p:sp>
        <p:nvSpPr>
          <p:cNvPr id="35" name="Rounded Rectangle 34"/>
          <p:cNvSpPr/>
          <p:nvPr/>
        </p:nvSpPr>
        <p:spPr>
          <a:xfrm>
            <a:off x="21031200" y="3840480"/>
            <a:ext cx="10972800" cy="1097280"/>
          </a:xfrm>
          <a:prstGeom prst="roundRect">
            <a:avLst/>
          </a:prstGeom>
          <a:solidFill>
            <a:srgbClr val="FFFACD"/>
          </a:solidFill>
          <a:ln w="50800">
            <a:solidFill>
              <a:srgbClr val="FF8800"/>
            </a:solidFill>
          </a:ln>
        </p:spPr>
        <p:style>
          <a:lnRef idx="1">
            <a:schemeClr val="accent1"/>
          </a:lnRef>
          <a:fillRef idx="3">
            <a:schemeClr val="accent1"/>
          </a:fillRef>
          <a:effectRef idx="2">
            <a:schemeClr val="accent1"/>
          </a:effectRef>
          <a:fontRef idx="minor">
            <a:schemeClr val="lt1"/>
          </a:fontRef>
        </p:style>
        <p:txBody>
          <a:bodyPr rtlCol="0" anchor="t" wrap="square" lIns="182880" rIns="182880"/>
          <a:lstStyle/>
          <a:p>
            <a:pPr algn="ctr"/>
          </a:p>
          <a:p>
            <a:pPr algn="ctr">
              <a:defRPr sz="3200" b="1">
                <a:solidFill>
                  <a:srgbClr val="000000"/>
                </a:solidFill>
              </a:defRPr>
            </a:pPr>
            <a:r>
              <a:t>⚡ 0.60-62 sec Analysis • Demonstrated on CRC Biomarkers ✓</a:t>
            </a:r>
          </a:p>
        </p:txBody>
      </p:sp>
      <p:sp>
        <p:nvSpPr>
          <p:cNvPr id="36" name="Rectangle 35"/>
          <p:cNvSpPr/>
          <p:nvPr/>
        </p:nvSpPr>
        <p:spPr>
          <a:xfrm>
            <a:off x="21031200" y="5120640"/>
            <a:ext cx="10972800" cy="731520"/>
          </a:xfrm>
          <a:prstGeom prst="rect">
            <a:avLst/>
          </a:prstGeom>
          <a:solidFill>
            <a:srgbClr val="9933CC"/>
          </a:solidFill>
          <a:ln>
            <a:solidFill>
              <a:srgbClr val="9933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a:p>
            <a:pPr algn="ctr">
              <a:defRPr sz="3600" b="1">
                <a:solidFill>
                  <a:srgbClr val="FFFFFF"/>
                </a:solidFill>
              </a:defRPr>
            </a:pPr>
            <a:r>
              <a:t>NATURAL LANGUAGE INTERFACE</a:t>
            </a:r>
          </a:p>
        </p:txBody>
      </p:sp>
      <p:sp>
        <p:nvSpPr>
          <p:cNvPr id="37" name="TextBox 36"/>
          <p:cNvSpPr txBox="1"/>
          <p:nvPr/>
        </p:nvSpPr>
        <p:spPr>
          <a:xfrm>
            <a:off x="21031200" y="6217920"/>
            <a:ext cx="10972800" cy="4114800"/>
          </a:xfrm>
          <a:prstGeom prst="rect">
            <a:avLst/>
          </a:prstGeom>
          <a:noFill/>
        </p:spPr>
        <p:txBody>
          <a:bodyPr wrap="square">
            <a:spAutoFit/>
          </a:bodyPr>
          <a:lstStyle/>
          <a:p/>
          <a:p>
            <a:pPr>
              <a:spcAft>
                <a:spcPts val="1200"/>
              </a:spcAft>
              <a:defRPr sz="2400">
                <a:solidFill>
                  <a:srgbClr val="000000"/>
                </a:solidFill>
              </a:defRPr>
            </a:pPr>
            <a:r>
              <a:t>Conversational access via Claude Desktop - no programming required</a:t>
            </a:r>
          </a:p>
          <a:p>
            <a:br/>
            <a:pPr>
              <a:spcBef>
                <a:spcPts val="800"/>
              </a:spcBef>
              <a:spcAft>
                <a:spcPts val="600"/>
              </a:spcAft>
              <a:defRPr sz="2600" b="1">
                <a:solidFill>
                  <a:srgbClr val="003366"/>
                </a:solidFill>
              </a:defRPr>
            </a:pPr>
            <a:r>
              <a:t>Example Prompts:</a:t>
            </a:r>
          </a:p>
          <a:p>
            <a:pPr lvl="1">
              <a:spcAft>
                <a:spcPts val="400"/>
              </a:spcAft>
              <a:defRPr sz="2000" b="0">
                <a:solidFill>
                  <a:srgbClr val="000000"/>
                </a:solidFill>
              </a:defRPr>
            </a:pPr>
            <a:r>
              <a:t>"Find biomarkers for CRC screening in Wnt/TP53 pathways"</a:t>
            </a:r>
          </a:p>
          <a:p>
            <a:pPr lvl="1">
              <a:spcAft>
                <a:spcPts val="400"/>
              </a:spcAft>
              <a:defRPr sz="2000" b="0">
                <a:solidFill>
                  <a:srgbClr val="000000"/>
                </a:solidFill>
              </a:defRPr>
            </a:pPr>
            <a:r>
              <a:t>"Analyze TP53 - what does it regulate?"</a:t>
            </a:r>
          </a:p>
          <a:p>
            <a:pPr lvl="1">
              <a:spcAft>
                <a:spcPts val="400"/>
              </a:spcAft>
              <a:defRPr sz="2000" b="0">
                <a:solidFill>
                  <a:srgbClr val="000000"/>
                </a:solidFill>
              </a:defRPr>
            </a:pPr>
            <a:r>
              <a:t>"Compare TP53, APC, BRCA1 across cell types"</a:t>
            </a:r>
          </a:p>
          <a:p>
            <a:br/>
            <a:pPr>
              <a:spcAft>
                <a:spcPts val="1200"/>
              </a:spcAft>
              <a:defRPr sz="2400">
                <a:solidFill>
                  <a:srgbClr val="000000"/>
                </a:solidFill>
              </a:defRPr>
            </a:pPr>
            <a:r>
              <a:t>System auto-routes → second-scale response with comprehensive analysis</a:t>
            </a:r>
          </a:p>
        </p:txBody>
      </p:sp>
      <p:sp>
        <p:nvSpPr>
          <p:cNvPr id="38" name="Rectangle 37"/>
          <p:cNvSpPr/>
          <p:nvPr/>
        </p:nvSpPr>
        <p:spPr>
          <a:xfrm>
            <a:off x="21031200" y="10515600"/>
            <a:ext cx="10972800" cy="731520"/>
          </a:xfrm>
          <a:prstGeom prst="rect">
            <a:avLst/>
          </a:prstGeom>
          <a:solidFill>
            <a:srgbClr val="0066CC"/>
          </a:solidFill>
          <a:ln>
            <a:solidFill>
              <a:srgbClr val="0066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a:p>
            <a:pPr algn="ctr">
              <a:defRPr sz="3600" b="1">
                <a:solidFill>
                  <a:srgbClr val="FFFFFF"/>
                </a:solidFill>
              </a:defRPr>
            </a:pPr>
            <a:r>
              <a:t>CASE 1: Multi-Gene Biomarker Analysis</a:t>
            </a:r>
          </a:p>
        </p:txBody>
      </p:sp>
      <p:sp>
        <p:nvSpPr>
          <p:cNvPr id="39" name="TextBox 38"/>
          <p:cNvSpPr txBox="1"/>
          <p:nvPr/>
        </p:nvSpPr>
        <p:spPr>
          <a:xfrm>
            <a:off x="21031200" y="11430000"/>
            <a:ext cx="10972800" cy="2286000"/>
          </a:xfrm>
          <a:prstGeom prst="rect">
            <a:avLst/>
          </a:prstGeom>
          <a:noFill/>
        </p:spPr>
        <p:txBody>
          <a:bodyPr wrap="square">
            <a:spAutoFit/>
          </a:bodyPr>
          <a:lstStyle/>
          <a:p/>
          <a:p>
            <a:pPr>
              <a:defRPr sz="2400" b="1">
                <a:solidFill>
                  <a:srgbClr val="9933CC"/>
                </a:solidFill>
              </a:defRPr>
            </a:pPr>
            <a:r>
              <a:t>User Prompt:</a:t>
            </a:r>
          </a:p>
          <a:p>
            <a:pPr>
              <a:spcAft>
                <a:spcPts val="800"/>
              </a:spcAft>
              <a:defRPr sz="2000" i="1">
                <a:solidFill>
                  <a:srgbClr val="003366"/>
                </a:solidFill>
              </a:defRPr>
            </a:pPr>
            <a:r>
              <a:t>"Characterize these candidate genes for CRC biomarker potential: MYC, CTNNB1, CCND1, TP53, KRAS"</a:t>
            </a:r>
          </a:p>
          <a:p>
            <a:pPr>
              <a:spcAft>
                <a:spcPts val="1200"/>
              </a:spcAft>
              <a:defRPr sz="1800" i="1">
                <a:solidFill>
                  <a:srgbClr val="646464"/>
                </a:solidFill>
              </a:defRPr>
            </a:pPr>
            <a:r>
              <a:t>Selected from known CRC pathways: Wnt (CTNNB1, MYC, CCND1) • TP53 pathway (TP53) • MAPK (KRAS)</a:t>
            </a:r>
          </a:p>
          <a:p>
            <a:pPr>
              <a:defRPr sz="2400" b="1">
                <a:solidFill>
                  <a:srgbClr val="FF8800"/>
                </a:solidFill>
              </a:defRPr>
            </a:pPr>
            <a:r>
              <a:t>Execution Time: 15.49 seconds (rule-based) / ~62 seconds (LLM-powered with AI insights) — 5 genes analyzed in parallel, all 99 regulators analyzed</a:t>
            </a:r>
          </a:p>
        </p:txBody>
      </p:sp>
      <p:graphicFrame>
        <p:nvGraphicFramePr>
          <p:cNvPr id="40" name="Table 39"/>
          <p:cNvGraphicFramePr>
            <a:graphicFrameLocks noGrp="1"/>
          </p:cNvGraphicFramePr>
          <p:nvPr/>
        </p:nvGraphicFramePr>
        <p:xfrm>
          <a:off x="21031200" y="13716000"/>
          <a:ext cx="10972800" cy="5943600"/>
        </p:xfrm>
        <a:graphic>
          <a:graphicData uri="http://schemas.openxmlformats.org/drawingml/2006/table">
            <a:tbl>
              <a:tblPr firstRow="1" bandRow="1">
                <a:tableStyleId>{5C22544A-7EE6-4342-B048-85BDC9FD1C3A}</a:tableStyleId>
              </a:tblPr>
              <a:tblGrid>
                <a:gridCol w="1828800"/>
                <a:gridCol w="1828800"/>
                <a:gridCol w="1828800"/>
                <a:gridCol w="1828800"/>
                <a:gridCol w="1828800"/>
                <a:gridCol w="1828800"/>
              </a:tblGrid>
              <a:tr h="990600">
                <a:tc>
                  <a:txBody>
                    <a:bodyPr/>
                    <a:lstStyle/>
                    <a:p>
                      <a:pPr algn="ctr">
                        <a:defRPr sz="2200" b="1">
                          <a:solidFill>
                            <a:srgbClr val="FFFFFF"/>
                          </a:solidFill>
                        </a:defRPr>
                      </a:pPr>
                      <a:r>
                        <a:t>Gene</a:t>
                      </a:r>
                    </a:p>
                  </a:txBody>
                  <a:tcPr>
                    <a:solidFill>
                      <a:srgbClr val="003366"/>
                    </a:solidFill>
                  </a:tcPr>
                </a:tc>
                <a:tc>
                  <a:txBody>
                    <a:bodyPr/>
                    <a:lstStyle/>
                    <a:p>
                      <a:pPr algn="ctr">
                        <a:defRPr sz="2200" b="1">
                          <a:solidFill>
                            <a:srgbClr val="FFFFFF"/>
                          </a:solidFill>
                        </a:defRPr>
                      </a:pPr>
                      <a:r>
                        <a:t>Regulatory Role</a:t>
                      </a:r>
                    </a:p>
                  </a:txBody>
                  <a:tcPr>
                    <a:solidFill>
                      <a:srgbClr val="003366"/>
                    </a:solidFill>
                  </a:tcPr>
                </a:tc>
                <a:tc>
                  <a:txBody>
                    <a:bodyPr/>
                    <a:lstStyle/>
                    <a:p>
                      <a:pPr algn="ctr">
                        <a:defRPr sz="2200" b="1">
                          <a:solidFill>
                            <a:srgbClr val="FFFFFF"/>
                          </a:solidFill>
                        </a:defRPr>
                      </a:pPr>
                      <a:r>
                        <a:t>Targets</a:t>
                      </a:r>
                    </a:p>
                  </a:txBody>
                  <a:tcPr>
                    <a:solidFill>
                      <a:srgbClr val="003366"/>
                    </a:solidFill>
                  </a:tcPr>
                </a:tc>
                <a:tc>
                  <a:txBody>
                    <a:bodyPr/>
                    <a:lstStyle/>
                    <a:p>
                      <a:pPr algn="ctr">
                        <a:defRPr sz="2200" b="1">
                          <a:solidFill>
                            <a:srgbClr val="FFFFFF"/>
                          </a:solidFill>
                        </a:defRPr>
                      </a:pPr>
                      <a:r>
                        <a:t>Regulators</a:t>
                      </a:r>
                    </a:p>
                  </a:txBody>
                  <a:tcPr>
                    <a:solidFill>
                      <a:srgbClr val="003366"/>
                    </a:solidFill>
                  </a:tcPr>
                </a:tc>
                <a:tc>
                  <a:txBody>
                    <a:bodyPr/>
                    <a:lstStyle/>
                    <a:p>
                      <a:pPr algn="ctr">
                        <a:defRPr sz="2200" b="1">
                          <a:solidFill>
                            <a:srgbClr val="FFFFFF"/>
                          </a:solidFill>
                        </a:defRPr>
                      </a:pPr>
                      <a:r>
                        <a:t>Biomarker Type*</a:t>
                      </a:r>
                    </a:p>
                  </a:txBody>
                  <a:tcPr>
                    <a:solidFill>
                      <a:srgbClr val="003366"/>
                    </a:solidFill>
                  </a:tcPr>
                </a:tc>
                <a:tc>
                  <a:txBody>
                    <a:bodyPr/>
                    <a:lstStyle/>
                    <a:p>
                      <a:pPr algn="ctr">
                        <a:defRPr sz="2200" b="1">
                          <a:solidFill>
                            <a:srgbClr val="FFFFFF"/>
                          </a:solidFill>
                        </a:defRPr>
                      </a:pPr>
                      <a:r>
                        <a:t>Top Candidate Regulator (PageRank)</a:t>
                      </a:r>
                    </a:p>
                  </a:txBody>
                  <a:tcPr>
                    <a:solidFill>
                      <a:srgbClr val="003366"/>
                    </a:solidFill>
                  </a:tcPr>
                </a:tc>
              </a:tr>
              <a:tr h="990600">
                <a:tc>
                  <a:txBody>
                    <a:bodyPr/>
                    <a:lstStyle/>
                    <a:p>
                      <a:pPr>
                        <a:defRPr sz="2000" b="1">
                          <a:solidFill>
                            <a:srgbClr val="000000"/>
                          </a:solidFill>
                        </a:defRPr>
                      </a:pPr>
                      <a:r>
                        <a:t>MYC</a:t>
                      </a:r>
                    </a:p>
                  </a:txBody>
                  <a:tcPr/>
                </a:tc>
                <a:tc>
                  <a:txBody>
                    <a:bodyPr/>
                    <a:lstStyle/>
                    <a:p>
                      <a:pPr>
                        <a:defRPr sz="2000">
                          <a:solidFill>
                            <a:srgbClr val="000000"/>
                          </a:solidFill>
                        </a:defRPr>
                      </a:pPr>
                      <a:r>
                        <a:t>Hub Regulator</a:t>
                      </a:r>
                    </a:p>
                  </a:txBody>
                  <a:tcPr/>
                </a:tc>
                <a:tc>
                  <a:txBody>
                    <a:bodyPr/>
                    <a:lstStyle/>
                    <a:p>
                      <a:pPr>
                        <a:defRPr sz="2000">
                          <a:solidFill>
                            <a:srgbClr val="000000"/>
                          </a:solidFill>
                        </a:defRPr>
                      </a:pPr>
                      <a:r>
                        <a:t>427</a:t>
                      </a:r>
                    </a:p>
                  </a:txBody>
                  <a:tcPr/>
                </a:tc>
                <a:tc>
                  <a:txBody>
                    <a:bodyPr/>
                    <a:lstStyle/>
                    <a:p>
                      <a:pPr>
                        <a:defRPr sz="2000">
                          <a:solidFill>
                            <a:srgbClr val="000000"/>
                          </a:solidFill>
                        </a:defRPr>
                      </a:pPr>
                      <a:r>
                        <a:t>25</a:t>
                      </a:r>
                    </a:p>
                  </a:txBody>
                  <a:tcPr/>
                </a:tc>
                <a:tc>
                  <a:txBody>
                    <a:bodyPr/>
                    <a:lstStyle/>
                    <a:p>
                      <a:pPr>
                        <a:defRPr sz="2000">
                          <a:solidFill>
                            <a:srgbClr val="000000"/>
                          </a:solidFill>
                        </a:defRPr>
                      </a:pPr>
                      <a:r>
                        <a:t>Diagnostic</a:t>
                      </a:r>
                    </a:p>
                  </a:txBody>
                  <a:tcPr/>
                </a:tc>
                <a:tc>
                  <a:txBody>
                    <a:bodyPr/>
                    <a:lstStyle/>
                    <a:p>
                      <a:pPr>
                        <a:defRPr sz="2000">
                          <a:solidFill>
                            <a:srgbClr val="000000"/>
                          </a:solidFill>
                        </a:defRPr>
                      </a:pPr>
                      <a:r>
                        <a:t>ID4 (0.622)</a:t>
                      </a:r>
                    </a:p>
                  </a:txBody>
                  <a:tcPr/>
                </a:tc>
              </a:tr>
              <a:tr h="990600">
                <a:tc>
                  <a:txBody>
                    <a:bodyPr/>
                    <a:lstStyle/>
                    <a:p>
                      <a:pPr>
                        <a:defRPr sz="2000" b="1">
                          <a:solidFill>
                            <a:srgbClr val="000000"/>
                          </a:solidFill>
                        </a:defRPr>
                      </a:pPr>
                      <a:r>
                        <a:t>CTNNB1</a:t>
                      </a:r>
                    </a:p>
                  </a:txBody>
                  <a:tcPr>
                    <a:solidFill>
                      <a:srgbClr val="F0F0F0"/>
                    </a:solidFill>
                  </a:tcPr>
                </a:tc>
                <a:tc>
                  <a:txBody>
                    <a:bodyPr/>
                    <a:lstStyle/>
                    <a:p>
                      <a:pPr>
                        <a:defRPr sz="2000">
                          <a:solidFill>
                            <a:srgbClr val="000000"/>
                          </a:solidFill>
                        </a:defRPr>
                      </a:pPr>
                      <a:r>
                        <a:t>Hub Regulator</a:t>
                      </a:r>
                    </a:p>
                  </a:txBody>
                  <a:tcPr>
                    <a:solidFill>
                      <a:srgbClr val="F0F0F0"/>
                    </a:solidFill>
                  </a:tcPr>
                </a:tc>
                <a:tc>
                  <a:txBody>
                    <a:bodyPr/>
                    <a:lstStyle/>
                    <a:p>
                      <a:pPr>
                        <a:defRPr sz="2000">
                          <a:solidFill>
                            <a:srgbClr val="000000"/>
                          </a:solidFill>
                        </a:defRPr>
                      </a:pPr>
                      <a:r>
                        <a:t>310</a:t>
                      </a:r>
                    </a:p>
                  </a:txBody>
                  <a:tcPr>
                    <a:solidFill>
                      <a:srgbClr val="F0F0F0"/>
                    </a:solidFill>
                  </a:tcPr>
                </a:tc>
                <a:tc>
                  <a:txBody>
                    <a:bodyPr/>
                    <a:lstStyle/>
                    <a:p>
                      <a:pPr>
                        <a:defRPr sz="2000">
                          <a:solidFill>
                            <a:srgbClr val="000000"/>
                          </a:solidFill>
                        </a:defRPr>
                      </a:pPr>
                      <a:r>
                        <a:t>18</a:t>
                      </a:r>
                    </a:p>
                  </a:txBody>
                  <a:tcPr>
                    <a:solidFill>
                      <a:srgbClr val="F0F0F0"/>
                    </a:solidFill>
                  </a:tcPr>
                </a:tc>
                <a:tc>
                  <a:txBody>
                    <a:bodyPr/>
                    <a:lstStyle/>
                    <a:p>
                      <a:pPr>
                        <a:defRPr sz="2000">
                          <a:solidFill>
                            <a:srgbClr val="000000"/>
                          </a:solidFill>
                        </a:defRPr>
                      </a:pPr>
                      <a:r>
                        <a:t>Diagnostic</a:t>
                      </a:r>
                    </a:p>
                  </a:txBody>
                  <a:tcPr>
                    <a:solidFill>
                      <a:srgbClr val="F0F0F0"/>
                    </a:solidFill>
                  </a:tcPr>
                </a:tc>
                <a:tc>
                  <a:txBody>
                    <a:bodyPr/>
                    <a:lstStyle/>
                    <a:p>
                      <a:pPr>
                        <a:defRPr sz="2000">
                          <a:solidFill>
                            <a:srgbClr val="000000"/>
                          </a:solidFill>
                        </a:defRPr>
                      </a:pPr>
                      <a:r>
                        <a:t>CHD2 (0.530)</a:t>
                      </a:r>
                    </a:p>
                  </a:txBody>
                  <a:tcPr>
                    <a:solidFill>
                      <a:srgbClr val="F0F0F0"/>
                    </a:solidFill>
                  </a:tcPr>
                </a:tc>
              </a:tr>
              <a:tr h="990600">
                <a:tc>
                  <a:txBody>
                    <a:bodyPr/>
                    <a:lstStyle/>
                    <a:p>
                      <a:pPr>
                        <a:defRPr sz="2000" b="1">
                          <a:solidFill>
                            <a:srgbClr val="000000"/>
                          </a:solidFill>
                        </a:defRPr>
                      </a:pPr>
                      <a:r>
                        <a:t>CCND1</a:t>
                      </a:r>
                    </a:p>
                  </a:txBody>
                  <a:tcPr/>
                </a:tc>
                <a:tc>
                  <a:txBody>
                    <a:bodyPr/>
                    <a:lstStyle/>
                    <a:p>
                      <a:pPr>
                        <a:defRPr sz="2000">
                          <a:solidFill>
                            <a:srgbClr val="000000"/>
                          </a:solidFill>
                        </a:defRPr>
                      </a:pPr>
                      <a:r>
                        <a:t>Heavily Regulated</a:t>
                      </a:r>
                    </a:p>
                  </a:txBody>
                  <a:tcPr/>
                </a:tc>
                <a:tc>
                  <a:txBody>
                    <a:bodyPr/>
                    <a:lstStyle/>
                    <a:p>
                      <a:pPr>
                        <a:defRPr sz="2000">
                          <a:solidFill>
                            <a:srgbClr val="000000"/>
                          </a:solidFill>
                        </a:defRPr>
                      </a:pPr>
                      <a:r>
                        <a:t>0</a:t>
                      </a:r>
                    </a:p>
                  </a:txBody>
                  <a:tcPr/>
                </a:tc>
                <a:tc>
                  <a:txBody>
                    <a:bodyPr/>
                    <a:lstStyle/>
                    <a:p>
                      <a:pPr>
                        <a:defRPr sz="2000">
                          <a:solidFill>
                            <a:srgbClr val="000000"/>
                          </a:solidFill>
                        </a:defRPr>
                      </a:pPr>
                      <a:r>
                        <a:t>42</a:t>
                      </a:r>
                    </a:p>
                  </a:txBody>
                  <a:tcPr/>
                </a:tc>
                <a:tc>
                  <a:txBody>
                    <a:bodyPr/>
                    <a:lstStyle/>
                    <a:p>
                      <a:pPr>
                        <a:defRPr sz="2000">
                          <a:solidFill>
                            <a:srgbClr val="000000"/>
                          </a:solidFill>
                        </a:defRPr>
                      </a:pPr>
                      <a:r>
                        <a:t>Diagnostic</a:t>
                      </a:r>
                    </a:p>
                  </a:txBody>
                  <a:tcPr/>
                </a:tc>
                <a:tc>
                  <a:txBody>
                    <a:bodyPr/>
                    <a:lstStyle/>
                    <a:p>
                      <a:pPr>
                        <a:defRPr sz="2000">
                          <a:solidFill>
                            <a:srgbClr val="000000"/>
                          </a:solidFill>
                        </a:defRPr>
                      </a:pPr>
                      <a:r>
                        <a:t>ZBTB20 (0.600)</a:t>
                      </a:r>
                    </a:p>
                  </a:txBody>
                  <a:tcPr/>
                </a:tc>
              </a:tr>
              <a:tr h="990600">
                <a:tc>
                  <a:txBody>
                    <a:bodyPr/>
                    <a:lstStyle/>
                    <a:p>
                      <a:pPr>
                        <a:defRPr sz="2000" b="1">
                          <a:solidFill>
                            <a:srgbClr val="000000"/>
                          </a:solidFill>
                        </a:defRPr>
                      </a:pPr>
                      <a:r>
                        <a:t>TP53</a:t>
                      </a:r>
                    </a:p>
                  </a:txBody>
                  <a:tcPr>
                    <a:solidFill>
                      <a:srgbClr val="F0F0F0"/>
                    </a:solidFill>
                  </a:tcPr>
                </a:tc>
                <a:tc>
                  <a:txBody>
                    <a:bodyPr/>
                    <a:lstStyle/>
                    <a:p>
                      <a:pPr>
                        <a:defRPr sz="2000">
                          <a:solidFill>
                            <a:srgbClr val="000000"/>
                          </a:solidFill>
                        </a:defRPr>
                      </a:pPr>
                      <a:r>
                        <a:t>Hub Regulator</a:t>
                      </a:r>
                    </a:p>
                  </a:txBody>
                  <a:tcPr>
                    <a:solidFill>
                      <a:srgbClr val="F0F0F0"/>
                    </a:solidFill>
                  </a:tcPr>
                </a:tc>
                <a:tc>
                  <a:txBody>
                    <a:bodyPr/>
                    <a:lstStyle/>
                    <a:p>
                      <a:pPr>
                        <a:defRPr sz="2000">
                          <a:solidFill>
                            <a:srgbClr val="000000"/>
                          </a:solidFill>
                        </a:defRPr>
                      </a:pPr>
                      <a:r>
                        <a:t>163</a:t>
                      </a:r>
                    </a:p>
                  </a:txBody>
                  <a:tcPr>
                    <a:solidFill>
                      <a:srgbClr val="F0F0F0"/>
                    </a:solidFill>
                  </a:tcPr>
                </a:tc>
                <a:tc>
                  <a:txBody>
                    <a:bodyPr/>
                    <a:lstStyle/>
                    <a:p>
                      <a:pPr>
                        <a:defRPr sz="2000">
                          <a:solidFill>
                            <a:srgbClr val="000000"/>
                          </a:solidFill>
                        </a:defRPr>
                      </a:pPr>
                      <a:r>
                        <a:t>7</a:t>
                      </a:r>
                    </a:p>
                  </a:txBody>
                  <a:tcPr>
                    <a:solidFill>
                      <a:srgbClr val="F0F0F0"/>
                    </a:solidFill>
                  </a:tcPr>
                </a:tc>
                <a:tc>
                  <a:txBody>
                    <a:bodyPr/>
                    <a:lstStyle/>
                    <a:p>
                      <a:pPr>
                        <a:defRPr sz="2000">
                          <a:solidFill>
                            <a:srgbClr val="000000"/>
                          </a:solidFill>
                        </a:defRPr>
                      </a:pPr>
                      <a:r>
                        <a:t>Prognostic</a:t>
                      </a:r>
                    </a:p>
                  </a:txBody>
                  <a:tcPr>
                    <a:solidFill>
                      <a:srgbClr val="F0F0F0"/>
                    </a:solidFill>
                  </a:tcPr>
                </a:tc>
                <a:tc>
                  <a:txBody>
                    <a:bodyPr/>
                    <a:lstStyle/>
                    <a:p>
                      <a:pPr>
                        <a:defRPr sz="2000">
                          <a:solidFill>
                            <a:srgbClr val="000000"/>
                          </a:solidFill>
                        </a:defRPr>
                      </a:pPr>
                      <a:r>
                        <a:t>WWTR1 (0.473)</a:t>
                      </a:r>
                    </a:p>
                  </a:txBody>
                  <a:tcPr>
                    <a:solidFill>
                      <a:srgbClr val="F0F0F0"/>
                    </a:solidFill>
                  </a:tcPr>
                </a:tc>
              </a:tr>
              <a:tr h="990600">
                <a:tc>
                  <a:txBody>
                    <a:bodyPr/>
                    <a:lstStyle/>
                    <a:p>
                      <a:pPr>
                        <a:defRPr sz="2000" b="1">
                          <a:solidFill>
                            <a:srgbClr val="000000"/>
                          </a:solidFill>
                        </a:defRPr>
                      </a:pPr>
                      <a:r>
                        <a:t>KRAS</a:t>
                      </a:r>
                    </a:p>
                  </a:txBody>
                  <a:tcPr/>
                </a:tc>
                <a:tc>
                  <a:txBody>
                    <a:bodyPr/>
                    <a:lstStyle/>
                    <a:p>
                      <a:pPr>
                        <a:defRPr sz="2000">
                          <a:solidFill>
                            <a:srgbClr val="000000"/>
                          </a:solidFill>
                        </a:defRPr>
                      </a:pPr>
                      <a:r>
                        <a:t>Heavily Regulated</a:t>
                      </a:r>
                    </a:p>
                  </a:txBody>
                  <a:tcPr/>
                </a:tc>
                <a:tc>
                  <a:txBody>
                    <a:bodyPr/>
                    <a:lstStyle/>
                    <a:p>
                      <a:pPr>
                        <a:defRPr sz="2000">
                          <a:solidFill>
                            <a:srgbClr val="000000"/>
                          </a:solidFill>
                        </a:defRPr>
                      </a:pPr>
                      <a:r>
                        <a:t>0</a:t>
                      </a:r>
                    </a:p>
                  </a:txBody>
                  <a:tcPr/>
                </a:tc>
                <a:tc>
                  <a:txBody>
                    <a:bodyPr/>
                    <a:lstStyle/>
                    <a:p>
                      <a:pPr>
                        <a:defRPr sz="2000">
                          <a:solidFill>
                            <a:srgbClr val="000000"/>
                          </a:solidFill>
                        </a:defRPr>
                      </a:pPr>
                      <a:r>
                        <a:t>7</a:t>
                      </a:r>
                    </a:p>
                  </a:txBody>
                  <a:tcPr/>
                </a:tc>
                <a:tc>
                  <a:txBody>
                    <a:bodyPr/>
                    <a:lstStyle/>
                    <a:p>
                      <a:pPr>
                        <a:defRPr sz="2000">
                          <a:solidFill>
                            <a:srgbClr val="000000"/>
                          </a:solidFill>
                        </a:defRPr>
                      </a:pPr>
                      <a:r>
                        <a:t>Predictive</a:t>
                      </a:r>
                    </a:p>
                  </a:txBody>
                  <a:tcPr/>
                </a:tc>
                <a:tc>
                  <a:txBody>
                    <a:bodyPr/>
                    <a:lstStyle/>
                    <a:p>
                      <a:pPr>
                        <a:defRPr sz="2000">
                          <a:solidFill>
                            <a:srgbClr val="000000"/>
                          </a:solidFill>
                        </a:defRPr>
                      </a:pPr>
                      <a:r>
                        <a:t>GPBP1 (0.609)</a:t>
                      </a:r>
                    </a:p>
                  </a:txBody>
                  <a:tcPr/>
                </a:tc>
              </a:tr>
            </a:tbl>
          </a:graphicData>
        </a:graphic>
      </p:graphicFrame>
      <p:sp>
        <p:nvSpPr>
          <p:cNvPr id="41" name="TextBox 40"/>
          <p:cNvSpPr txBox="1"/>
          <p:nvPr/>
        </p:nvSpPr>
        <p:spPr>
          <a:xfrm>
            <a:off x="21031200" y="19842480"/>
            <a:ext cx="10972800" cy="1097280"/>
          </a:xfrm>
          <a:prstGeom prst="rect">
            <a:avLst/>
          </a:prstGeom>
          <a:noFill/>
        </p:spPr>
        <p:txBody>
          <a:bodyPr wrap="square">
            <a:spAutoFit/>
          </a:bodyPr>
          <a:lstStyle/>
          <a:p/>
          <a:p>
            <a:pPr>
              <a:defRPr sz="1800" b="1">
                <a:solidFill>
                  <a:srgbClr val="003366"/>
                </a:solidFill>
              </a:defRPr>
            </a:pPr>
            <a:r>
              <a:t>Biomarker Types:</a:t>
            </a:r>
          </a:p>
          <a:p>
            <a:pPr>
              <a:spcAft>
                <a:spcPts val="200"/>
              </a:spcAft>
              <a:defRPr sz="1600">
                <a:solidFill>
                  <a:srgbClr val="000000"/>
                </a:solidFill>
              </a:defRPr>
            </a:pPr>
            <a:r>
              <a:t>Diagnostic: Detects presence of disease (early detection, screening)</a:t>
            </a:r>
          </a:p>
          <a:p>
            <a:pPr>
              <a:spcAft>
                <a:spcPts val="200"/>
              </a:spcAft>
              <a:defRPr sz="1600">
                <a:solidFill>
                  <a:srgbClr val="000000"/>
                </a:solidFill>
              </a:defRPr>
            </a:pPr>
            <a:r>
              <a:t>Prognostic: Predicts disease outcome/progression (patient stratification)</a:t>
            </a:r>
          </a:p>
          <a:p>
            <a:pPr>
              <a:spcAft>
                <a:spcPts val="200"/>
              </a:spcAft>
              <a:defRPr sz="1600">
                <a:solidFill>
                  <a:srgbClr val="000000"/>
                </a:solidFill>
              </a:defRPr>
            </a:pPr>
            <a:r>
              <a:t>Predictive: Predicts response to specific therapy (treatment selection)</a:t>
            </a:r>
          </a:p>
        </p:txBody>
      </p:sp>
      <p:sp>
        <p:nvSpPr>
          <p:cNvPr id="42" name="Rectangle 41"/>
          <p:cNvSpPr/>
          <p:nvPr/>
        </p:nvSpPr>
        <p:spPr>
          <a:xfrm>
            <a:off x="21031200" y="22402800"/>
            <a:ext cx="10972800" cy="731520"/>
          </a:xfrm>
          <a:prstGeom prst="rect">
            <a:avLst/>
          </a:prstGeom>
          <a:solidFill>
            <a:srgbClr val="9933CC"/>
          </a:solidFill>
          <a:ln>
            <a:solidFill>
              <a:srgbClr val="9933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a:p>
            <a:pPr algn="ctr">
              <a:defRPr sz="3600" b="1">
                <a:solidFill>
                  <a:srgbClr val="FFFFFF"/>
                </a:solidFill>
              </a:defRPr>
            </a:pPr>
            <a:r>
              <a:t>CASE 2: TP53 Therapeutic Target Prioritization</a:t>
            </a:r>
          </a:p>
        </p:txBody>
      </p:sp>
      <p:sp>
        <p:nvSpPr>
          <p:cNvPr id="43" name="TextBox 42"/>
          <p:cNvSpPr txBox="1"/>
          <p:nvPr/>
        </p:nvSpPr>
        <p:spPr>
          <a:xfrm>
            <a:off x="21031200" y="23317200"/>
            <a:ext cx="10972800" cy="5943600"/>
          </a:xfrm>
          <a:prstGeom prst="rect">
            <a:avLst/>
          </a:prstGeom>
          <a:noFill/>
        </p:spPr>
        <p:txBody>
          <a:bodyPr wrap="square">
            <a:spAutoFit/>
          </a:bodyPr>
          <a:lstStyle/>
          <a:p/>
          <a:p>
            <a:pPr>
              <a:spcAft>
                <a:spcPts val="800"/>
              </a:spcAft>
              <a:defRPr sz="2000" i="1">
                <a:solidFill>
                  <a:srgbClr val="003366"/>
                </a:solidFill>
              </a:defRPr>
            </a:pPr>
            <a:r>
              <a:t>User Query: Comprehensive TP53 analysis with therapeutic target identification</a:t>
            </a:r>
          </a:p>
          <a:p>
            <a:pPr>
              <a:spcAft>
                <a:spcPts val="800"/>
              </a:spcAft>
              <a:defRPr sz="1800">
                <a:solidFill>
                  <a:srgbClr val="000000"/>
                </a:solidFill>
              </a:defRPr>
            </a:pPr>
            <a:r>
              <a:t>Network Analysis: Hub regulator • 163 targets • 7 regulators • 16 pathways (FDR&lt;0.05)</a:t>
            </a:r>
          </a:p>
          <a:p>
            <a:pPr>
              <a:spcBef>
                <a:spcPts val="800"/>
              </a:spcBef>
              <a:spcAft>
                <a:spcPts val="600"/>
              </a:spcAft>
              <a:defRPr sz="2600" b="1">
                <a:solidFill>
                  <a:srgbClr val="003366"/>
                </a:solidFill>
              </a:defRPr>
            </a:pPr>
            <a:r>
              <a:t>Automated Therapeutic Target Prioritization</a:t>
            </a:r>
          </a:p>
          <a:p>
            <a:pPr>
              <a:spcAft>
                <a:spcPts val="600"/>
              </a:spcAft>
              <a:defRPr sz="1800">
                <a:solidFill>
                  <a:srgbClr val="000000"/>
                </a:solidFill>
              </a:defRPr>
            </a:pPr>
            <a:r>
              <a:t>System simulated inhibition of all 7 upstream regulators and ranked therapeutic targets using standard network centrality metrics (PageRank, out-degree centrality):</a:t>
            </a:r>
          </a:p>
          <a:p>
            <a:pPr lvl="1">
              <a:spcAft>
                <a:spcPts val="400"/>
              </a:spcAft>
              <a:defRPr sz="2000" b="0">
                <a:solidFill>
                  <a:srgbClr val="000000"/>
                </a:solidFill>
              </a:defRPr>
            </a:pPr>
            <a:r>
              <a:t>Top Target (PageRank): WWTR1 (0.473) ✓ Literature-supported Hippo pathway regulator</a:t>
            </a:r>
          </a:p>
          <a:p>
            <a:pPr lvl="1">
              <a:spcAft>
                <a:spcPts val="400"/>
              </a:spcAft>
              <a:defRPr sz="2000" b="0">
                <a:solidFill>
                  <a:srgbClr val="000000"/>
                </a:solidFill>
              </a:defRPr>
            </a:pPr>
            <a:r>
              <a:t>Top Target (Out-Degree): RBPMS (0.028, 403 targets) - Novel hypothesis</a:t>
            </a:r>
          </a:p>
          <a:p>
            <a:pPr lvl="1">
              <a:spcAft>
                <a:spcPts val="400"/>
              </a:spcAft>
              <a:defRPr sz="2000" b="0">
                <a:solidFill>
                  <a:srgbClr val="000000"/>
                </a:solidFill>
              </a:defRPr>
            </a:pPr>
            <a:r>
              <a:t>Literature-supported: YAP1, CHD4 (Hippo pathway) have documented interactions</a:t>
            </a:r>
          </a:p>
          <a:p>
            <a:pPr lvl="1">
              <a:spcAft>
                <a:spcPts val="400"/>
              </a:spcAft>
              <a:defRPr sz="2000" b="0">
                <a:solidFill>
                  <a:srgbClr val="000000"/>
                </a:solidFill>
              </a:defRPr>
            </a:pPr>
            <a:r>
              <a:t>Novel: PRRX2, THRA, IKZF2 prioritized for experimental validation</a:t>
            </a:r>
          </a:p>
          <a:p>
            <a:br/>
            <a:pPr>
              <a:spcAft>
                <a:spcPts val="600"/>
              </a:spcAft>
              <a:defRPr sz="1800" b="1">
                <a:solidFill>
                  <a:srgbClr val="FF8800"/>
                </a:solidFill>
              </a:defRPr>
            </a:pPr>
            <a:r>
              <a:t>Execution: 0.60 sec (rule-based) | ~15 sec (LLM-powered with domain insights)</a:t>
            </a:r>
          </a:p>
          <a:p>
            <a:pPr>
              <a:spcAft>
                <a:spcPts val="400"/>
              </a:spcAft>
              <a:defRPr sz="1700" i="1">
                <a:solidFill>
                  <a:srgbClr val="646464"/>
                </a:solidFill>
              </a:defRPr>
            </a:pPr>
            <a:r>
              <a:t>Demonstrates: Automated therapeutic target prioritization using PageRank (best predictor of drug target success per Mora &amp; Donaldson 2021) identifies both literature-supported regulators and novel hypotheses for experimental follow-up.</a:t>
            </a:r>
          </a:p>
        </p:txBody>
      </p:sp>
      <p:sp>
        <p:nvSpPr>
          <p:cNvPr id="44" name="Rectangle 43"/>
          <p:cNvSpPr/>
          <p:nvPr/>
        </p:nvSpPr>
        <p:spPr>
          <a:xfrm>
            <a:off x="32461200" y="3840480"/>
            <a:ext cx="10972800" cy="731520"/>
          </a:xfrm>
          <a:prstGeom prst="rect">
            <a:avLst/>
          </a:prstGeom>
          <a:solidFill>
            <a:srgbClr val="0066CC"/>
          </a:solidFill>
          <a:ln>
            <a:solidFill>
              <a:srgbClr val="0066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a:p>
            <a:pPr algn="ctr">
              <a:defRPr sz="3600" b="1">
                <a:solidFill>
                  <a:srgbClr val="FFFFFF"/>
                </a:solidFill>
              </a:defRPr>
            </a:pPr>
            <a:r>
              <a:t>DISCUSSION</a:t>
            </a:r>
          </a:p>
        </p:txBody>
      </p:sp>
      <p:sp>
        <p:nvSpPr>
          <p:cNvPr id="45" name="TextBox 44"/>
          <p:cNvSpPr txBox="1"/>
          <p:nvPr/>
        </p:nvSpPr>
        <p:spPr>
          <a:xfrm>
            <a:off x="32461200" y="4754880"/>
            <a:ext cx="10972800" cy="8229600"/>
          </a:xfrm>
          <a:prstGeom prst="rect">
            <a:avLst/>
          </a:prstGeom>
          <a:noFill/>
        </p:spPr>
        <p:txBody>
          <a:bodyPr wrap="square"/>
          <a:lstStyle/>
          <a:p/>
          <a:p>
            <a:pPr>
              <a:spcBef>
                <a:spcPts val="800"/>
              </a:spcBef>
              <a:spcAft>
                <a:spcPts val="600"/>
              </a:spcAft>
              <a:defRPr sz="2600" b="1">
                <a:solidFill>
                  <a:srgbClr val="003366"/>
                </a:solidFill>
              </a:defRPr>
            </a:pPr>
            <a:r>
              <a:t>Key Advantages</a:t>
            </a:r>
          </a:p>
          <a:p>
            <a:pPr>
              <a:spcAft>
                <a:spcPts val="1000"/>
              </a:spcAft>
              <a:defRPr sz="2000">
                <a:solidFill>
                  <a:srgbClr val="000000"/>
                </a:solidFill>
              </a:defRPr>
            </a:pPr>
            <a:r>
              <a:t>The system employs intelligent workflow routing that automatically selects optimal analysis paths based on gene characteristics, avoiding unnecessary computation while prioritizing relevant agents. Parallel agent execution provides 4-6x speedup versus sequential analysis through async I/O operations.</a:t>
            </a:r>
          </a:p>
          <a:p>
            <a:pPr>
              <a:spcAft>
                <a:spcPts val="1000"/>
              </a:spcAft>
              <a:defRPr sz="2000">
                <a:solidFill>
                  <a:srgbClr val="000000"/>
                </a:solidFill>
              </a:defRPr>
            </a:pPr>
            <a:r>
              <a:t>Domain-specific agents provide specialized expertise in cancer biology, drug development, clinical relevance, and systems biology with integrated scoring algorithms. Cell-type specificity across 10 pre-computed networks enables cross-cell comparison and tissue-specific pattern identification.</a:t>
            </a:r>
          </a:p>
          <a:p>
            <a:br/>
            <a:pPr>
              <a:spcBef>
                <a:spcPts val="800"/>
              </a:spcBef>
              <a:spcAft>
                <a:spcPts val="600"/>
              </a:spcAft>
              <a:defRPr sz="2600" b="1">
                <a:solidFill>
                  <a:srgbClr val="003366"/>
                </a:solidFill>
              </a:defRPr>
            </a:pPr>
            <a:r>
              <a:t>Limitations &amp; Future Work</a:t>
            </a:r>
          </a:p>
          <a:p>
            <a:pPr>
              <a:spcAft>
                <a:spcPts val="1000"/>
              </a:spcAft>
              <a:defRPr sz="2000">
                <a:solidFill>
                  <a:srgbClr val="000000"/>
                </a:solidFill>
              </a:defRPr>
            </a:pPr>
            <a:r>
              <a:t>Current limitations include 10 cell types currently available (limited by available pre-computed networks) and networks updated periodically (not dynamic). Future work includes expanding cell type coverage as networks become available, integrating additional pathway databases (KEGG, GO, MSigDB), optimizing batch processing, and enhancing domain agent algorithms.</a:t>
            </a:r>
          </a:p>
          <a:p>
            <a:br/>
            <a:pPr>
              <a:spcBef>
                <a:spcPts val="800"/>
              </a:spcBef>
              <a:spcAft>
                <a:spcPts val="600"/>
              </a:spcAft>
              <a:defRPr sz="2600" b="1">
                <a:solidFill>
                  <a:srgbClr val="003366"/>
                </a:solidFill>
              </a:defRPr>
            </a:pPr>
            <a:r>
              <a:t>Appropriate Use Cases</a:t>
            </a:r>
          </a:p>
          <a:p>
            <a:pPr>
              <a:spcAft>
                <a:spcPts val="1000"/>
              </a:spcAft>
              <a:defRPr sz="2000">
                <a:solidFill>
                  <a:srgbClr val="000000"/>
                </a:solidFill>
              </a:defRPr>
            </a:pPr>
            <a:r>
              <a:t>System is designed for: (1) Hypothesis generation and target screening to prioritize experimental validation, (2) Network structure analysis to understand regulatory hierarchies and identify hub regulators, (3) Multi-gene comparative screening for biomarker prioritization, (4) Cross-cell-type pattern identification for tissue-specific regulation.</a:t>
            </a:r>
          </a:p>
          <a:p>
            <a:pPr>
              <a:spcAft>
                <a:spcPts val="1000"/>
              </a:spcAft>
              <a:defRPr sz="2000" i="1">
                <a:solidFill>
                  <a:srgbClr val="003366"/>
                </a:solidFill>
              </a:defRPr>
            </a:pPr>
            <a:r>
              <a:t>NOT designed for: Gene expression prediction (topology-based, not dynamical modeling), clinical diagnosis, or replacing experimental validation. Generates research hypotheses requiring wet-lab confirmation.</a:t>
            </a:r>
          </a:p>
        </p:txBody>
      </p:sp>
      <p:sp>
        <p:nvSpPr>
          <p:cNvPr id="46" name="TextBox 45"/>
          <p:cNvSpPr txBox="1"/>
          <p:nvPr/>
        </p:nvSpPr>
        <p:spPr>
          <a:xfrm>
            <a:off x="32461200" y="13075920"/>
            <a:ext cx="10972800" cy="411480"/>
          </a:xfrm>
          <a:prstGeom prst="rect">
            <a:avLst/>
          </a:prstGeom>
          <a:noFill/>
        </p:spPr>
        <p:txBody>
          <a:bodyPr wrap="none">
            <a:spAutoFit/>
          </a:bodyPr>
          <a:lstStyle/>
          <a:p/>
          <a:p>
            <a:pPr algn="ctr">
              <a:defRPr sz="3000" b="1">
                <a:solidFill>
                  <a:srgbClr val="FF8800"/>
                </a:solidFill>
              </a:defRPr>
            </a:pPr>
            <a:r>
              <a:t>Figure 4: Framework Performance (orders of magnitude speedup)</a:t>
            </a:r>
          </a:p>
        </p:txBody>
      </p:sp>
      <p:pic>
        <p:nvPicPr>
          <p:cNvPr id="47" name="Picture 46" descr="figure2_framework_value.png"/>
          <p:cNvPicPr>
            <a:picLocks noChangeAspect="1"/>
          </p:cNvPicPr>
          <p:nvPr/>
        </p:nvPicPr>
        <p:blipFill>
          <a:blip r:embed="rId2"/>
          <a:stretch>
            <a:fillRect/>
          </a:stretch>
        </p:blipFill>
        <p:spPr>
          <a:xfrm>
            <a:off x="32644080" y="13350240"/>
            <a:ext cx="10607040" cy="7619030"/>
          </a:xfrm>
          <a:prstGeom prst="rect">
            <a:avLst/>
          </a:prstGeom>
        </p:spPr>
      </p:pic>
      <p:sp>
        <p:nvSpPr>
          <p:cNvPr id="48" name="Rectangle 47"/>
          <p:cNvSpPr/>
          <p:nvPr/>
        </p:nvSpPr>
        <p:spPr>
          <a:xfrm>
            <a:off x="32461200" y="21106430"/>
            <a:ext cx="10972800" cy="731520"/>
          </a:xfrm>
          <a:prstGeom prst="rect">
            <a:avLst/>
          </a:prstGeom>
          <a:solidFill>
            <a:srgbClr val="9933CC"/>
          </a:solidFill>
          <a:ln>
            <a:solidFill>
              <a:srgbClr val="9933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a:p>
            <a:pPr algn="ctr">
              <a:defRPr sz="3600" b="1">
                <a:solidFill>
                  <a:srgbClr val="FFFFFF"/>
                </a:solidFill>
              </a:defRPr>
            </a:pPr>
            <a:r>
              <a:t>CONCLUSIONS</a:t>
            </a:r>
          </a:p>
        </p:txBody>
      </p:sp>
      <p:sp>
        <p:nvSpPr>
          <p:cNvPr id="49" name="TextBox 48"/>
          <p:cNvSpPr txBox="1"/>
          <p:nvPr/>
        </p:nvSpPr>
        <p:spPr>
          <a:xfrm>
            <a:off x="32461200" y="22020830"/>
            <a:ext cx="10972800" cy="2926080"/>
          </a:xfrm>
          <a:prstGeom prst="rect">
            <a:avLst/>
          </a:prstGeom>
          <a:noFill/>
        </p:spPr>
        <p:txBody>
          <a:bodyPr wrap="square"/>
          <a:lstStyle/>
          <a:p/>
          <a:p>
            <a:pPr>
              <a:spcAft>
                <a:spcPts val="800"/>
              </a:spcAft>
              <a:defRPr sz="2000">
                <a:solidFill>
                  <a:srgbClr val="000000"/>
                </a:solidFill>
              </a:defRPr>
            </a:pPr>
            <a:r>
              <a:t>Gene Regulatory Agents demonstrates that multi-agent AI frameworks can effectively orchestrate complex gene regulatory network analyses across multiple biological domains. The framework successfully bridges computational biology, AI workflow orchestration, and conversational interfaces to make sophisticated gene analysis accessible to researchers.</a:t>
            </a:r>
          </a:p>
          <a:p>
            <a:pPr>
              <a:spcBef>
                <a:spcPts val="800"/>
              </a:spcBef>
              <a:spcAft>
                <a:spcPts val="600"/>
              </a:spcAft>
              <a:defRPr sz="2600" b="1">
                <a:solidFill>
                  <a:srgbClr val="003366"/>
                </a:solidFill>
              </a:defRPr>
            </a:pPr>
            <a:r>
              <a:t>Key Innovations</a:t>
            </a:r>
          </a:p>
          <a:p>
            <a:pPr>
              <a:spcAft>
                <a:spcPts val="200"/>
              </a:spcAft>
              <a:defRPr sz="1800" b="1">
                <a:solidFill>
                  <a:srgbClr val="003366"/>
                </a:solidFill>
              </a:defRPr>
            </a:pPr>
            <a:r>
              <a:t>• Intelligent routing optimizes analysis paths based on gene characteristics</a:t>
            </a:r>
          </a:p>
          <a:p>
            <a:pPr>
              <a:spcAft>
                <a:spcPts val="200"/>
              </a:spcAft>
              <a:defRPr sz="1800" b="1">
                <a:solidFill>
                  <a:srgbClr val="003366"/>
                </a:solidFill>
              </a:defRPr>
            </a:pPr>
            <a:r>
              <a:t>• Parallel execution enables second-scale analysis (0.6-62 sec depending on mode)</a:t>
            </a:r>
          </a:p>
          <a:p>
            <a:pPr>
              <a:spcAft>
                <a:spcPts val="200"/>
              </a:spcAft>
              <a:defRPr sz="1800" b="1">
                <a:solidFill>
                  <a:srgbClr val="003366"/>
                </a:solidFill>
              </a:defRPr>
            </a:pPr>
            <a:r>
              <a:t>• Domain-specific agents provide specialized cancer, drug, clinical, and systems perspectives</a:t>
            </a:r>
          </a:p>
          <a:p>
            <a:pPr>
              <a:spcAft>
                <a:spcPts val="800"/>
              </a:spcAft>
              <a:defRPr sz="1800" b="1">
                <a:solidFill>
                  <a:srgbClr val="003366"/>
                </a:solidFill>
              </a:defRPr>
            </a:pPr>
            <a:r>
              <a:t>• Cell-type specificity supports translational research questions</a:t>
            </a:r>
          </a:p>
        </p:txBody>
      </p:sp>
      <p:sp>
        <p:nvSpPr>
          <p:cNvPr id="50" name="Rectangle 49"/>
          <p:cNvSpPr/>
          <p:nvPr/>
        </p:nvSpPr>
        <p:spPr>
          <a:xfrm>
            <a:off x="32461200" y="25678430"/>
            <a:ext cx="10972800" cy="731520"/>
          </a:xfrm>
          <a:prstGeom prst="rect">
            <a:avLst/>
          </a:prstGeom>
          <a:solidFill>
            <a:srgbClr val="646464"/>
          </a:solidFill>
          <a:ln>
            <a:solidFill>
              <a:srgbClr val="64646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a:p>
            <a:pPr algn="ctr">
              <a:defRPr sz="3600" b="1">
                <a:solidFill>
                  <a:srgbClr val="FFFFFF"/>
                </a:solidFill>
              </a:defRPr>
            </a:pPr>
            <a:r>
              <a:t>REFERENCES</a:t>
            </a:r>
          </a:p>
        </p:txBody>
      </p:sp>
      <p:sp>
        <p:nvSpPr>
          <p:cNvPr id="51" name="TextBox 50"/>
          <p:cNvSpPr txBox="1"/>
          <p:nvPr/>
        </p:nvSpPr>
        <p:spPr>
          <a:xfrm>
            <a:off x="32461200" y="26592830"/>
            <a:ext cx="10972800" cy="2743200"/>
          </a:xfrm>
          <a:prstGeom prst="rect">
            <a:avLst/>
          </a:prstGeom>
          <a:noFill/>
        </p:spPr>
        <p:txBody>
          <a:bodyPr wrap="square">
            <a:spAutoFit/>
          </a:bodyPr>
          <a:lstStyle/>
          <a:p/>
          <a:p>
            <a:pPr>
              <a:spcAft>
                <a:spcPts val="400"/>
              </a:spcAft>
              <a:defRPr sz="1600">
                <a:solidFill>
                  <a:srgbClr val="000000"/>
                </a:solidFill>
              </a:defRPr>
            </a:pPr>
            <a:r>
              <a:t>1. Zhang M, et al. (2025). GREmLN: A Cellular Regulatory Network-Aware Transcriptomics Foundation Model. bioRxiv 2025.07.03.663009.</a:t>
            </a:r>
          </a:p>
          <a:p>
            <a:pPr>
              <a:spcAft>
                <a:spcPts val="400"/>
              </a:spcAft>
              <a:defRPr sz="1600">
                <a:solidFill>
                  <a:srgbClr val="000000"/>
                </a:solidFill>
              </a:defRPr>
            </a:pPr>
            <a:r>
              <a:t>2. Margolin AA, et al. (2006). ARACNe algorithm. BMC Bioinformatics.</a:t>
            </a:r>
          </a:p>
          <a:p>
            <a:pPr>
              <a:spcAft>
                <a:spcPts val="400"/>
              </a:spcAft>
              <a:defRPr sz="1600">
                <a:solidFill>
                  <a:srgbClr val="000000"/>
                </a:solidFill>
              </a:defRPr>
            </a:pPr>
            <a:r>
              <a:t>3. Lachmann A, et al. (2016). ARACNe-AP: Adaptive Partitioning. Bioinformatics.</a:t>
            </a:r>
          </a:p>
          <a:p>
            <a:pPr>
              <a:spcAft>
                <a:spcPts val="400"/>
              </a:spcAft>
              <a:defRPr sz="1600">
                <a:solidFill>
                  <a:srgbClr val="000000"/>
                </a:solidFill>
              </a:defRPr>
            </a:pPr>
            <a:r>
              <a:t>4. Gillespie M, et al. (2022). Reactome pathway database. Nucleic Acids Res.</a:t>
            </a:r>
          </a:p>
          <a:p>
            <a:pPr>
              <a:spcAft>
                <a:spcPts val="400"/>
              </a:spcAft>
              <a:defRPr sz="1600">
                <a:solidFill>
                  <a:srgbClr val="000000"/>
                </a:solidFill>
              </a:defRPr>
            </a:pPr>
            <a:r>
              <a:t>5. CellxGene Data Portal. Chan Zuckerberg Initiative.</a:t>
            </a:r>
          </a:p>
          <a:p>
            <a:pPr>
              <a:spcAft>
                <a:spcPts val="400"/>
              </a:spcAft>
              <a:defRPr sz="1600">
                <a:solidFill>
                  <a:srgbClr val="000000"/>
                </a:solidFill>
              </a:defRPr>
            </a:pPr>
            <a:r>
              <a:t>6. LangGraph Framework. LangChain AI.</a:t>
            </a:r>
          </a:p>
          <a:p>
            <a:pPr>
              <a:spcAft>
                <a:spcPts val="400"/>
              </a:spcAft>
              <a:defRPr sz="1600">
                <a:solidFill>
                  <a:srgbClr val="000000"/>
                </a:solidFill>
              </a:defRPr>
            </a:pPr>
            <a:r>
              <a:t>7. Model Context Protocol (MCP). Anthropic.</a:t>
            </a:r>
          </a:p>
        </p:txBody>
      </p:sp>
      <p:sp>
        <p:nvSpPr>
          <p:cNvPr id="52" name="Rectangle 51"/>
          <p:cNvSpPr/>
          <p:nvPr/>
        </p:nvSpPr>
        <p:spPr>
          <a:xfrm>
            <a:off x="32461200" y="29336030"/>
            <a:ext cx="10972800" cy="731520"/>
          </a:xfrm>
          <a:prstGeom prst="rect">
            <a:avLst/>
          </a:prstGeom>
          <a:solidFill>
            <a:srgbClr val="9933CC"/>
          </a:solidFill>
          <a:ln>
            <a:solidFill>
              <a:srgbClr val="9933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a:p>
            <a:pPr algn="ctr">
              <a:defRPr sz="3600" b="1">
                <a:solidFill>
                  <a:srgbClr val="FFFFFF"/>
                </a:solidFill>
              </a:defRPr>
            </a:pPr>
            <a:r>
              <a:t>CONTACT</a:t>
            </a:r>
          </a:p>
        </p:txBody>
      </p:sp>
      <p:sp>
        <p:nvSpPr>
          <p:cNvPr id="53" name="TextBox 52"/>
          <p:cNvSpPr txBox="1"/>
          <p:nvPr/>
        </p:nvSpPr>
        <p:spPr>
          <a:xfrm>
            <a:off x="32461200" y="30250430"/>
            <a:ext cx="6858000" cy="3200400"/>
          </a:xfrm>
          <a:prstGeom prst="rect">
            <a:avLst/>
          </a:prstGeom>
          <a:noFill/>
        </p:spPr>
        <p:txBody>
          <a:bodyPr wrap="square">
            <a:spAutoFit/>
          </a:bodyPr>
          <a:lstStyle/>
          <a:p/>
          <a:p>
            <a:pPr>
              <a:defRPr sz="2400" b="1">
                <a:solidFill>
                  <a:srgbClr val="003366"/>
                </a:solidFill>
              </a:defRPr>
            </a:pPr>
            <a:r>
              <a:t>Jose A. Bird, PhD</a:t>
            </a:r>
          </a:p>
          <a:p>
            <a:pPr>
              <a:spcAft>
                <a:spcPts val="800"/>
              </a:spcAft>
              <a:defRPr sz="2000">
                <a:solidFill>
                  <a:srgbClr val="000000"/>
                </a:solidFill>
              </a:defRPr>
            </a:pPr>
            <a:r>
              <a:t>Bird AI Solutions</a:t>
            </a:r>
          </a:p>
          <a:p>
            <a:pPr>
              <a:defRPr sz="1800">
                <a:solidFill>
                  <a:srgbClr val="000000"/>
                </a:solidFill>
              </a:defRPr>
            </a:pPr>
            <a:r>
              <a:t>Email: jbird@birdaisolutions.com</a:t>
            </a:r>
          </a:p>
          <a:p>
            <a:pPr>
              <a:spcAft>
                <a:spcPts val="800"/>
              </a:spcAft>
              <a:defRPr sz="1600">
                <a:solidFill>
                  <a:srgbClr val="000000"/>
                </a:solidFill>
              </a:defRPr>
            </a:pPr>
            <a:r>
              <a:t>LinkedIn: /in/jose-bird-data-science-advanced-analytics</a:t>
            </a:r>
          </a:p>
          <a:p>
            <a:pPr>
              <a:defRPr sz="1800" i="1">
                <a:solidFill>
                  <a:srgbClr val="646464"/>
                </a:solidFill>
              </a:defRPr>
            </a:pPr>
            <a:r>
              <a:t>Interested in Gene Regulatory Agents?</a:t>
            </a:r>
          </a:p>
        </p:txBody>
      </p:sp>
      <p:sp>
        <p:nvSpPr>
          <p:cNvPr id="54" name="Rectangle 53"/>
          <p:cNvSpPr/>
          <p:nvPr/>
        </p:nvSpPr>
        <p:spPr>
          <a:xfrm>
            <a:off x="39319200" y="30250430"/>
            <a:ext cx="2514600" cy="2514600"/>
          </a:xfrm>
          <a:prstGeom prst="rect">
            <a:avLst/>
          </a:prstGeom>
          <a:solidFill>
            <a:srgbClr val="F0F0F0"/>
          </a:solidFill>
          <a:ln w="25400">
            <a:solidFill>
              <a:srgbClr val="000000"/>
            </a:solidFill>
          </a:ln>
        </p:spPr>
        <p:style>
          <a:lnRef idx="1">
            <a:schemeClr val="accent1"/>
          </a:lnRef>
          <a:fillRef idx="3">
            <a:schemeClr val="accent1"/>
          </a:fillRef>
          <a:effectRef idx="2">
            <a:schemeClr val="accent1"/>
          </a:effectRef>
          <a:fontRef idx="minor">
            <a:schemeClr val="lt1"/>
          </a:fontRef>
        </p:style>
        <p:txBody>
          <a:bodyPr rtlCol="0" anchor="t"/>
          <a:lstStyle/>
          <a:p>
            <a:pPr algn="ctr"/>
          </a:p>
          <a:p>
            <a:pPr algn="ctr">
              <a:defRPr sz="2000" b="1">
                <a:solidFill>
                  <a:srgbClr val="646464"/>
                </a:solidFill>
              </a:defRPr>
            </a:pPr>
            <a:r>
              <a:t>QR CODE</a:t>
            </a:r>
            <a:br/>
            <a:r>
              <a:t>Poster</a:t>
            </a:r>
            <a:br/>
            <a:r>
              <a:t>Webpage</a:t>
            </a:r>
          </a:p>
        </p:txBody>
      </p:sp>
      <p:sp>
        <p:nvSpPr>
          <p:cNvPr id="55" name="TextBox 54"/>
          <p:cNvSpPr txBox="1"/>
          <p:nvPr/>
        </p:nvSpPr>
        <p:spPr>
          <a:xfrm>
            <a:off x="457200" y="31546800"/>
            <a:ext cx="42976800" cy="914400"/>
          </a:xfrm>
          <a:prstGeom prst="rect">
            <a:avLst/>
          </a:prstGeom>
          <a:noFill/>
        </p:spPr>
        <p:txBody>
          <a:bodyPr wrap="square">
            <a:spAutoFit/>
          </a:bodyPr>
          <a:lstStyle/>
          <a:p/>
          <a:p>
            <a:pPr algn="ctr">
              <a:defRPr sz="2400" b="1">
                <a:solidFill>
                  <a:srgbClr val="003366"/>
                </a:solidFill>
              </a:defRPr>
            </a:pPr>
            <a:r>
              <a:t>Powered by LangGraph | MCP Protocol | Claude Desktop</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